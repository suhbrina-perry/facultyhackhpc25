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Open Sans" panose="020B0606030504020204" pitchFamily="3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 roundtripDataSignature="AMtx7mj2lCnrPOAb5FD/7LHIg2ZKJEG5R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47F3D0-F7DA-430F-8E04-20EB7D579169}" v="32" dt="2025-10-20T13:13:00.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948" y="-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5" Type="http://schemas.microsoft.com/office/2015/10/relationships/revisionInfo" Target="revisionInfo.xml"/><Relationship Id="rId10" Type="http://customschemas.google.com/relationships/presentationmetadata" Target="metadata"/><Relationship Id="rId4"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468880" y="3591562"/>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Calibri"/>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114800" y="11526522"/>
            <a:ext cx="24688800" cy="52984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7680"/>
              <a:buNone/>
              <a:defRPr sz="7680"/>
            </a:lvl1pPr>
            <a:lvl2pPr lvl="1" algn="ctr">
              <a:lnSpc>
                <a:spcPct val="90000"/>
              </a:lnSpc>
              <a:spcBef>
                <a:spcPts val="1600"/>
              </a:spcBef>
              <a:spcAft>
                <a:spcPts val="0"/>
              </a:spcAft>
              <a:buClr>
                <a:schemeClr val="dk1"/>
              </a:buClr>
              <a:buSzPts val="6400"/>
              <a:buNone/>
              <a:defRPr sz="6400"/>
            </a:lvl2pPr>
            <a:lvl3pPr lvl="2" algn="ctr">
              <a:lnSpc>
                <a:spcPct val="90000"/>
              </a:lnSpc>
              <a:spcBef>
                <a:spcPts val="1600"/>
              </a:spcBef>
              <a:spcAft>
                <a:spcPts val="0"/>
              </a:spcAft>
              <a:buClr>
                <a:schemeClr val="dk1"/>
              </a:buClr>
              <a:buSzPts val="5760"/>
              <a:buNone/>
              <a:defRPr sz="5760"/>
            </a:lvl3pPr>
            <a:lvl4pPr lvl="3" algn="ctr">
              <a:lnSpc>
                <a:spcPct val="90000"/>
              </a:lnSpc>
              <a:spcBef>
                <a:spcPts val="1600"/>
              </a:spcBef>
              <a:spcAft>
                <a:spcPts val="0"/>
              </a:spcAft>
              <a:buClr>
                <a:schemeClr val="dk1"/>
              </a:buClr>
              <a:buSzPts val="5120"/>
              <a:buNone/>
              <a:defRPr sz="5120"/>
            </a:lvl4pPr>
            <a:lvl5pPr lvl="4" algn="ctr">
              <a:lnSpc>
                <a:spcPct val="90000"/>
              </a:lnSpc>
              <a:spcBef>
                <a:spcPts val="1600"/>
              </a:spcBef>
              <a:spcAft>
                <a:spcPts val="0"/>
              </a:spcAft>
              <a:buClr>
                <a:schemeClr val="dk1"/>
              </a:buClr>
              <a:buSzPts val="5120"/>
              <a:buNone/>
              <a:defRPr sz="5120"/>
            </a:lvl5pPr>
            <a:lvl6pPr lvl="5" algn="ctr">
              <a:lnSpc>
                <a:spcPct val="90000"/>
              </a:lnSpc>
              <a:spcBef>
                <a:spcPts val="1600"/>
              </a:spcBef>
              <a:spcAft>
                <a:spcPts val="0"/>
              </a:spcAft>
              <a:buClr>
                <a:schemeClr val="dk1"/>
              </a:buClr>
              <a:buSzPts val="5120"/>
              <a:buNone/>
              <a:defRPr sz="5120"/>
            </a:lvl6pPr>
            <a:lvl7pPr lvl="6" algn="ctr">
              <a:lnSpc>
                <a:spcPct val="90000"/>
              </a:lnSpc>
              <a:spcBef>
                <a:spcPts val="1600"/>
              </a:spcBef>
              <a:spcAft>
                <a:spcPts val="0"/>
              </a:spcAft>
              <a:buClr>
                <a:schemeClr val="dk1"/>
              </a:buClr>
              <a:buSzPts val="5120"/>
              <a:buNone/>
              <a:defRPr sz="5120"/>
            </a:lvl7pPr>
            <a:lvl8pPr lvl="7" algn="ctr">
              <a:lnSpc>
                <a:spcPct val="90000"/>
              </a:lnSpc>
              <a:spcBef>
                <a:spcPts val="1600"/>
              </a:spcBef>
              <a:spcAft>
                <a:spcPts val="0"/>
              </a:spcAft>
              <a:buClr>
                <a:schemeClr val="dk1"/>
              </a:buClr>
              <a:buSzPts val="5120"/>
              <a:buNone/>
              <a:defRPr sz="5120"/>
            </a:lvl8pPr>
            <a:lvl9pPr lvl="8" algn="ctr">
              <a:lnSpc>
                <a:spcPct val="90000"/>
              </a:lnSpc>
              <a:spcBef>
                <a:spcPts val="1600"/>
              </a:spcBef>
              <a:spcAft>
                <a:spcPts val="0"/>
              </a:spcAft>
              <a:buClr>
                <a:schemeClr val="dk1"/>
              </a:buClr>
              <a:buSzPts val="5120"/>
              <a:buNone/>
              <a:defRPr sz="5120"/>
            </a:lvl9pPr>
          </a:lstStyle>
          <a:p>
            <a:endParaRPr/>
          </a:p>
        </p:txBody>
      </p:sp>
      <p:sp>
        <p:nvSpPr>
          <p:cNvPr id="14" name="Google Shape;14;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63140" y="5842000"/>
            <a:ext cx="283921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45997" y="5471167"/>
            <a:ext cx="28392120" cy="91287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45997" y="14686287"/>
            <a:ext cx="28392120" cy="48005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7680"/>
              <a:buNone/>
              <a:defRPr sz="7680">
                <a:solidFill>
                  <a:schemeClr val="dk1"/>
                </a:solidFill>
              </a:defRPr>
            </a:lvl1pPr>
            <a:lvl2pPr marL="914400" lvl="1" indent="-228600" algn="l">
              <a:lnSpc>
                <a:spcPct val="90000"/>
              </a:lnSpc>
              <a:spcBef>
                <a:spcPts val="1600"/>
              </a:spcBef>
              <a:spcAft>
                <a:spcPts val="0"/>
              </a:spcAft>
              <a:buClr>
                <a:srgbClr val="888888"/>
              </a:buClr>
              <a:buSzPts val="6400"/>
              <a:buNone/>
              <a:defRPr sz="6400">
                <a:solidFill>
                  <a:srgbClr val="888888"/>
                </a:solidFill>
              </a:defRPr>
            </a:lvl2pPr>
            <a:lvl3pPr marL="1371600" lvl="2" indent="-228600" algn="l">
              <a:lnSpc>
                <a:spcPct val="90000"/>
              </a:lnSpc>
              <a:spcBef>
                <a:spcPts val="1600"/>
              </a:spcBef>
              <a:spcAft>
                <a:spcPts val="0"/>
              </a:spcAft>
              <a:buClr>
                <a:srgbClr val="888888"/>
              </a:buClr>
              <a:buSzPts val="5760"/>
              <a:buNone/>
              <a:defRPr sz="5760">
                <a:solidFill>
                  <a:srgbClr val="888888"/>
                </a:solidFill>
              </a:defRPr>
            </a:lvl3pPr>
            <a:lvl4pPr marL="1828800" lvl="3" indent="-228600" algn="l">
              <a:lnSpc>
                <a:spcPct val="90000"/>
              </a:lnSpc>
              <a:spcBef>
                <a:spcPts val="1600"/>
              </a:spcBef>
              <a:spcAft>
                <a:spcPts val="0"/>
              </a:spcAft>
              <a:buClr>
                <a:srgbClr val="888888"/>
              </a:buClr>
              <a:buSzPts val="5120"/>
              <a:buNone/>
              <a:defRPr sz="5120">
                <a:solidFill>
                  <a:srgbClr val="888888"/>
                </a:solidFill>
              </a:defRPr>
            </a:lvl4pPr>
            <a:lvl5pPr marL="2286000" lvl="4" indent="-228600" algn="l">
              <a:lnSpc>
                <a:spcPct val="90000"/>
              </a:lnSpc>
              <a:spcBef>
                <a:spcPts val="1600"/>
              </a:spcBef>
              <a:spcAft>
                <a:spcPts val="0"/>
              </a:spcAft>
              <a:buClr>
                <a:srgbClr val="888888"/>
              </a:buClr>
              <a:buSzPts val="5120"/>
              <a:buNone/>
              <a:defRPr sz="5120">
                <a:solidFill>
                  <a:srgbClr val="888888"/>
                </a:solidFill>
              </a:defRPr>
            </a:lvl5pPr>
            <a:lvl6pPr marL="2743200" lvl="5" indent="-228600" algn="l">
              <a:lnSpc>
                <a:spcPct val="90000"/>
              </a:lnSpc>
              <a:spcBef>
                <a:spcPts val="1600"/>
              </a:spcBef>
              <a:spcAft>
                <a:spcPts val="0"/>
              </a:spcAft>
              <a:buClr>
                <a:srgbClr val="888888"/>
              </a:buClr>
              <a:buSzPts val="5120"/>
              <a:buNone/>
              <a:defRPr sz="5120">
                <a:solidFill>
                  <a:srgbClr val="888888"/>
                </a:solidFill>
              </a:defRPr>
            </a:lvl6pPr>
            <a:lvl7pPr marL="3200400" lvl="6" indent="-228600" algn="l">
              <a:lnSpc>
                <a:spcPct val="90000"/>
              </a:lnSpc>
              <a:spcBef>
                <a:spcPts val="1600"/>
              </a:spcBef>
              <a:spcAft>
                <a:spcPts val="0"/>
              </a:spcAft>
              <a:buClr>
                <a:srgbClr val="888888"/>
              </a:buClr>
              <a:buSzPts val="5120"/>
              <a:buNone/>
              <a:defRPr sz="5120">
                <a:solidFill>
                  <a:srgbClr val="888888"/>
                </a:solidFill>
              </a:defRPr>
            </a:lvl7pPr>
            <a:lvl8pPr marL="3657600" lvl="7" indent="-228600" algn="l">
              <a:lnSpc>
                <a:spcPct val="90000"/>
              </a:lnSpc>
              <a:spcBef>
                <a:spcPts val="1600"/>
              </a:spcBef>
              <a:spcAft>
                <a:spcPts val="0"/>
              </a:spcAft>
              <a:buClr>
                <a:srgbClr val="888888"/>
              </a:buClr>
              <a:buSzPts val="5120"/>
              <a:buNone/>
              <a:defRPr sz="5120">
                <a:solidFill>
                  <a:srgbClr val="888888"/>
                </a:solidFill>
              </a:defRPr>
            </a:lvl8pPr>
            <a:lvl9pPr marL="4114800" lvl="8" indent="-228600" algn="l">
              <a:lnSpc>
                <a:spcPct val="90000"/>
              </a:lnSpc>
              <a:spcBef>
                <a:spcPts val="1600"/>
              </a:spcBef>
              <a:spcAft>
                <a:spcPts val="0"/>
              </a:spcAft>
              <a:buClr>
                <a:srgbClr val="888888"/>
              </a:buClr>
              <a:buSzPts val="5120"/>
              <a:buNone/>
              <a:defRPr sz="5120">
                <a:solidFill>
                  <a:srgbClr val="888888"/>
                </a:solidFill>
              </a:defRPr>
            </a:lvl9pPr>
          </a:lstStyle>
          <a:p>
            <a:endParaRPr/>
          </a:p>
        </p:txBody>
      </p:sp>
      <p:sp>
        <p:nvSpPr>
          <p:cNvPr id="26" name="Google Shape;26;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631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6649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67428"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67431" y="5379722"/>
            <a:ext cx="13926024"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endParaRPr/>
          </a:p>
        </p:txBody>
      </p:sp>
      <p:sp>
        <p:nvSpPr>
          <p:cNvPr id="39" name="Google Shape;39;p7"/>
          <p:cNvSpPr txBox="1">
            <a:spLocks noGrp="1"/>
          </p:cNvSpPr>
          <p:nvPr>
            <p:ph type="body" idx="2"/>
          </p:nvPr>
        </p:nvSpPr>
        <p:spPr>
          <a:xfrm>
            <a:off x="2267431" y="8016240"/>
            <a:ext cx="13926024"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664942" y="5379722"/>
            <a:ext cx="13994608"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endParaRPr/>
          </a:p>
        </p:txBody>
      </p:sp>
      <p:sp>
        <p:nvSpPr>
          <p:cNvPr id="41" name="Google Shape;41;p7"/>
          <p:cNvSpPr txBox="1">
            <a:spLocks noGrp="1"/>
          </p:cNvSpPr>
          <p:nvPr>
            <p:ph type="body" idx="4"/>
          </p:nvPr>
        </p:nvSpPr>
        <p:spPr>
          <a:xfrm>
            <a:off x="16664942" y="8016240"/>
            <a:ext cx="13994608"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457200" lvl="0" indent="-878839" algn="l">
              <a:lnSpc>
                <a:spcPct val="90000"/>
              </a:lnSpc>
              <a:spcBef>
                <a:spcPts val="3200"/>
              </a:spcBef>
              <a:spcAft>
                <a:spcPts val="0"/>
              </a:spcAft>
              <a:buClr>
                <a:schemeClr val="dk1"/>
              </a:buClr>
              <a:buSzPts val="10240"/>
              <a:buChar char="•"/>
              <a:defRPr sz="10240"/>
            </a:lvl1pPr>
            <a:lvl2pPr marL="914400" lvl="1" indent="-797560" algn="l">
              <a:lnSpc>
                <a:spcPct val="90000"/>
              </a:lnSpc>
              <a:spcBef>
                <a:spcPts val="1600"/>
              </a:spcBef>
              <a:spcAft>
                <a:spcPts val="0"/>
              </a:spcAft>
              <a:buClr>
                <a:schemeClr val="dk1"/>
              </a:buClr>
              <a:buSzPts val="8960"/>
              <a:buChar char="•"/>
              <a:defRPr sz="8960"/>
            </a:lvl2pPr>
            <a:lvl3pPr marL="1371600" lvl="2" indent="-716280" algn="l">
              <a:lnSpc>
                <a:spcPct val="90000"/>
              </a:lnSpc>
              <a:spcBef>
                <a:spcPts val="1600"/>
              </a:spcBef>
              <a:spcAft>
                <a:spcPts val="0"/>
              </a:spcAft>
              <a:buClr>
                <a:schemeClr val="dk1"/>
              </a:buClr>
              <a:buSzPts val="7680"/>
              <a:buChar char="•"/>
              <a:defRPr sz="7680"/>
            </a:lvl3pPr>
            <a:lvl4pPr marL="1828800" lvl="3" indent="-635000" algn="l">
              <a:lnSpc>
                <a:spcPct val="90000"/>
              </a:lnSpc>
              <a:spcBef>
                <a:spcPts val="1600"/>
              </a:spcBef>
              <a:spcAft>
                <a:spcPts val="0"/>
              </a:spcAft>
              <a:buClr>
                <a:schemeClr val="dk1"/>
              </a:buClr>
              <a:buSzPts val="6400"/>
              <a:buChar char="•"/>
              <a:defRPr sz="6400"/>
            </a:lvl4pPr>
            <a:lvl5pPr marL="2286000" lvl="4" indent="-635000" algn="l">
              <a:lnSpc>
                <a:spcPct val="90000"/>
              </a:lnSpc>
              <a:spcBef>
                <a:spcPts val="1600"/>
              </a:spcBef>
              <a:spcAft>
                <a:spcPts val="0"/>
              </a:spcAft>
              <a:buClr>
                <a:schemeClr val="dk1"/>
              </a:buClr>
              <a:buSzPts val="6400"/>
              <a:buChar char="•"/>
              <a:defRPr sz="6400"/>
            </a:lvl5pPr>
            <a:lvl6pPr marL="2743200" lvl="5" indent="-635000" algn="l">
              <a:lnSpc>
                <a:spcPct val="90000"/>
              </a:lnSpc>
              <a:spcBef>
                <a:spcPts val="1600"/>
              </a:spcBef>
              <a:spcAft>
                <a:spcPts val="0"/>
              </a:spcAft>
              <a:buClr>
                <a:schemeClr val="dk1"/>
              </a:buClr>
              <a:buSzPts val="6400"/>
              <a:buChar char="•"/>
              <a:defRPr sz="6400"/>
            </a:lvl6pPr>
            <a:lvl7pPr marL="3200400" lvl="6" indent="-635000" algn="l">
              <a:lnSpc>
                <a:spcPct val="90000"/>
              </a:lnSpc>
              <a:spcBef>
                <a:spcPts val="1600"/>
              </a:spcBef>
              <a:spcAft>
                <a:spcPts val="0"/>
              </a:spcAft>
              <a:buClr>
                <a:schemeClr val="dk1"/>
              </a:buClr>
              <a:buSzPts val="6400"/>
              <a:buChar char="•"/>
              <a:defRPr sz="6400"/>
            </a:lvl7pPr>
            <a:lvl8pPr marL="3657600" lvl="7" indent="-635000" algn="l">
              <a:lnSpc>
                <a:spcPct val="90000"/>
              </a:lnSpc>
              <a:spcBef>
                <a:spcPts val="1600"/>
              </a:spcBef>
              <a:spcAft>
                <a:spcPts val="0"/>
              </a:spcAft>
              <a:buClr>
                <a:schemeClr val="dk1"/>
              </a:buClr>
              <a:buSzPts val="6400"/>
              <a:buChar char="•"/>
              <a:defRPr sz="6400"/>
            </a:lvl8pPr>
            <a:lvl9pPr marL="4114800" lvl="8" indent="-635000" algn="l">
              <a:lnSpc>
                <a:spcPct val="90000"/>
              </a:lnSpc>
              <a:spcBef>
                <a:spcPts val="1600"/>
              </a:spcBef>
              <a:spcAft>
                <a:spcPts val="0"/>
              </a:spcAft>
              <a:buClr>
                <a:schemeClr val="dk1"/>
              </a:buClr>
              <a:buSzPts val="6400"/>
              <a:buChar char="•"/>
              <a:defRPr sz="6400"/>
            </a:lvl9pPr>
          </a:lstStyle>
          <a:p>
            <a:endParaRPr/>
          </a:p>
        </p:txBody>
      </p:sp>
      <p:sp>
        <p:nvSpPr>
          <p:cNvPr id="57" name="Google Shape;57;p10"/>
          <p:cNvSpPr txBox="1">
            <a:spLocks noGrp="1"/>
          </p:cNvSpPr>
          <p:nvPr>
            <p:ph type="body" idx="2"/>
          </p:nvPr>
        </p:nvSpPr>
        <p:spPr>
          <a:xfrm>
            <a:off x="2267428" y="6583680"/>
            <a:ext cx="10617041"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endParaRPr/>
          </a:p>
        </p:txBody>
      </p:sp>
      <p:sp>
        <p:nvSpPr>
          <p:cNvPr id="58" name="Google Shape;58;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13994608" y="3159765"/>
            <a:ext cx="16664940" cy="15595600"/>
          </a:xfrm>
          <a:prstGeom prst="rect">
            <a:avLst/>
          </a:prstGeom>
          <a:noFill/>
          <a:ln>
            <a:noFill/>
          </a:ln>
        </p:spPr>
      </p:sp>
      <p:sp>
        <p:nvSpPr>
          <p:cNvPr id="64" name="Google Shape;64;p11"/>
          <p:cNvSpPr txBox="1">
            <a:spLocks noGrp="1"/>
          </p:cNvSpPr>
          <p:nvPr>
            <p:ph type="body" idx="1"/>
          </p:nvPr>
        </p:nvSpPr>
        <p:spPr>
          <a:xfrm>
            <a:off x="2267428" y="6583680"/>
            <a:ext cx="10617041"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endParaRPr/>
          </a:p>
        </p:txBody>
      </p:sp>
      <p:sp>
        <p:nvSpPr>
          <p:cNvPr id="65" name="Google Shape;65;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9497059" y="-1391919"/>
            <a:ext cx="13924282" cy="283921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7807306" y="6918326"/>
            <a:ext cx="18597882"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3405506" y="26036"/>
            <a:ext cx="18597882" cy="2088261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2263140" y="5842000"/>
            <a:ext cx="28392120" cy="13924282"/>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hyperlink" Target="https://cvw.cac.cornell.edu/parallel/efficiency/scaling" TargetMode="External"/><Relationship Id="rId3" Type="http://schemas.openxmlformats.org/officeDocument/2006/relationships/image" Target="../media/image1.png"/><Relationship Id="rId21" Type="http://schemas.openxmlformats.org/officeDocument/2006/relationships/hyperlink" Target="https://jetstream-cloud.org/" TargetMode="External"/><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1.png"/><Relationship Id="rId2" Type="http://schemas.openxmlformats.org/officeDocument/2006/relationships/notesSlide" Target="../notesSlides/notesSlide1.xml"/><Relationship Id="rId16" Type="http://schemas.openxmlformats.org/officeDocument/2006/relationships/image" Target="../media/image14.jpeg"/><Relationship Id="rId20" Type="http://schemas.openxmlformats.org/officeDocument/2006/relationships/hyperlink" Target="https://cvw.cac.cornell.edu/"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24" Type="http://schemas.openxmlformats.org/officeDocument/2006/relationships/image" Target="../media/image20.png"/><Relationship Id="rId5" Type="http://schemas.openxmlformats.org/officeDocument/2006/relationships/image" Target="../media/image3.png"/><Relationship Id="rId15" Type="http://schemas.openxmlformats.org/officeDocument/2006/relationships/image" Target="../media/image13.jpg"/><Relationship Id="rId23" Type="http://schemas.openxmlformats.org/officeDocument/2006/relationships/image" Target="../media/image19.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jpg"/><Relationship Id="rId9" Type="http://schemas.openxmlformats.org/officeDocument/2006/relationships/image" Target="../media/image7.png"/><Relationship Id="rId14" Type="http://schemas.openxmlformats.org/officeDocument/2006/relationships/image" Target="../media/image12.jpg"/><Relationship Id="rId22" Type="http://schemas.openxmlformats.org/officeDocument/2006/relationships/image" Target="../media/image18.png"/><Relationship Id="rId27" Type="http://schemas.openxmlformats.org/officeDocument/2006/relationships/hyperlink" Target="https://www.olcf.ornl.gov/2024/02/29/planning-for-a-smooth-landing-on-ma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15" name="Picture 14" descr="A group of people looking through a telescope&#10;&#10;AI-generated content may be incorrect.">
            <a:extLst>
              <a:ext uri="{FF2B5EF4-FFF2-40B4-BE49-F238E27FC236}">
                <a16:creationId xmlns:a16="http://schemas.microsoft.com/office/drawing/2014/main" id="{B2C7F8AA-779F-A8EE-B10B-D80AA0886718}"/>
              </a:ext>
            </a:extLst>
          </p:cNvPr>
          <p:cNvPicPr>
            <a:picLocks noChangeAspect="1"/>
          </p:cNvPicPr>
          <p:nvPr/>
        </p:nvPicPr>
        <p:blipFill>
          <a:blip r:embed="rId3"/>
          <a:stretch>
            <a:fillRect/>
          </a:stretch>
        </p:blipFill>
        <p:spPr>
          <a:xfrm>
            <a:off x="15033858" y="17146991"/>
            <a:ext cx="6611273" cy="4572638"/>
          </a:xfrm>
          <a:prstGeom prst="rect">
            <a:avLst/>
          </a:prstGeom>
        </p:spPr>
      </p:pic>
      <p:pic>
        <p:nvPicPr>
          <p:cNvPr id="50" name="Picture 49" descr="A logo for a company&#10;&#10;AI-generated content may be incorrect.">
            <a:extLst>
              <a:ext uri="{FF2B5EF4-FFF2-40B4-BE49-F238E27FC236}">
                <a16:creationId xmlns:a16="http://schemas.microsoft.com/office/drawing/2014/main" id="{255BB579-5480-95C9-97E6-F9A07A2776A3}"/>
              </a:ext>
            </a:extLst>
          </p:cNvPr>
          <p:cNvPicPr>
            <a:picLocks noChangeAspect="1"/>
          </p:cNvPicPr>
          <p:nvPr/>
        </p:nvPicPr>
        <p:blipFill>
          <a:blip r:embed="rId4"/>
          <a:srcRect t="41193" b="40239"/>
          <a:stretch/>
        </p:blipFill>
        <p:spPr>
          <a:xfrm>
            <a:off x="1416838" y="18934958"/>
            <a:ext cx="5695950" cy="1057649"/>
          </a:xfrm>
          <a:prstGeom prst="rect">
            <a:avLst/>
          </a:prstGeom>
        </p:spPr>
      </p:pic>
      <p:sp>
        <p:nvSpPr>
          <p:cNvPr id="88" name="Google Shape;88;p1"/>
          <p:cNvSpPr txBox="1"/>
          <p:nvPr/>
        </p:nvSpPr>
        <p:spPr>
          <a:xfrm>
            <a:off x="288995" y="3033799"/>
            <a:ext cx="7876622" cy="3046948"/>
          </a:xfrm>
          <a:prstGeom prst="rect">
            <a:avLst/>
          </a:prstGeom>
          <a:noFill/>
          <a:ln>
            <a:noFill/>
          </a:ln>
        </p:spPr>
        <p:txBody>
          <a:bodyPr spcFirstLastPara="1" wrap="square" lIns="91425" tIns="45700" rIns="91425" bIns="45700" anchor="t" anchorCtr="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This project enhances </a:t>
            </a:r>
            <a:r>
              <a:rPr lang="en-US" sz="2400" i="1" dirty="0">
                <a:latin typeface="Calibri" panose="020F0502020204030204" pitchFamily="34" charset="0"/>
                <a:ea typeface="Calibri" panose="020F0502020204030204" pitchFamily="34" charset="0"/>
                <a:cs typeface="Calibri" panose="020F0502020204030204" pitchFamily="34" charset="0"/>
              </a:rPr>
              <a:t>CSCI 1010/1011: Introduction to Programming I &amp; Lab</a:t>
            </a:r>
            <a:r>
              <a:rPr lang="en-US" sz="2400" dirty="0">
                <a:latin typeface="Calibri" panose="020F0502020204030204" pitchFamily="34" charset="0"/>
                <a:ea typeface="Calibri" panose="020F0502020204030204" pitchFamily="34" charset="0"/>
                <a:cs typeface="Calibri" panose="020F0502020204030204" pitchFamily="34" charset="0"/>
              </a:rPr>
              <a:t> by incorporating </a:t>
            </a:r>
            <a:r>
              <a:rPr lang="en-US" sz="2400" b="1" dirty="0">
                <a:latin typeface="Calibri" panose="020F0502020204030204" pitchFamily="34" charset="0"/>
                <a:ea typeface="Calibri" panose="020F0502020204030204" pitchFamily="34" charset="0"/>
                <a:cs typeface="Calibri" panose="020F0502020204030204" pitchFamily="34" charset="0"/>
              </a:rPr>
              <a:t>High-Performance Computing (HPC)</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b="1" dirty="0">
                <a:latin typeface="Calibri" panose="020F0502020204030204" pitchFamily="34" charset="0"/>
                <a:ea typeface="Calibri" panose="020F0502020204030204" pitchFamily="34" charset="0"/>
                <a:cs typeface="Calibri" panose="020F0502020204030204" pitchFamily="34" charset="0"/>
              </a:rPr>
              <a:t>Generative AI</a:t>
            </a:r>
            <a:r>
              <a:rPr lang="en-US" sz="2400" dirty="0">
                <a:latin typeface="Calibri" panose="020F0502020204030204" pitchFamily="34" charset="0"/>
                <a:ea typeface="Calibri" panose="020F0502020204030204" pitchFamily="34" charset="0"/>
                <a:cs typeface="Calibri" panose="020F0502020204030204" pitchFamily="34" charset="0"/>
              </a:rPr>
              <a:t> concepts into the first-year Java programming curriculum. Students will learn not only core programming skills but also how programs behave at scale, how parallelism is used in modern computing, and how Science Gateway resources make advanced computing accessible.</a:t>
            </a:r>
          </a:p>
        </p:txBody>
      </p:sp>
      <p:sp>
        <p:nvSpPr>
          <p:cNvPr id="98" name="Google Shape;98;p1"/>
          <p:cNvSpPr txBox="1"/>
          <p:nvPr/>
        </p:nvSpPr>
        <p:spPr>
          <a:xfrm>
            <a:off x="317669" y="13213212"/>
            <a:ext cx="7315200" cy="452427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Open Sans"/>
              </a:rPr>
              <a:t>Science Gateway Goal 1</a:t>
            </a:r>
            <a:r>
              <a:rPr lang="en-US"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Open Sans"/>
              </a:rPr>
              <a:t>: Improve Intro to Programming with HPC Perspectives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sym typeface="Open Sans"/>
              </a:rPr>
              <a:t>Science Gateway Goal 2</a:t>
            </a:r>
            <a:r>
              <a:rPr lang="en-US" sz="2400" dirty="0">
                <a:latin typeface="Calibri" panose="020F0502020204030204" pitchFamily="34" charset="0"/>
                <a:ea typeface="Calibri" panose="020F0502020204030204" pitchFamily="34" charset="0"/>
                <a:cs typeface="Calibri" panose="020F0502020204030204" pitchFamily="34" charset="0"/>
                <a:sym typeface="Open Sans"/>
              </a:rPr>
              <a:t>: Incorporate Generative AI for Learning Support</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sym typeface="Open Sans"/>
              </a:rPr>
              <a:t>Science Gateway Goal 3</a:t>
            </a:r>
            <a:r>
              <a:rPr lang="en-US" sz="2400" dirty="0">
                <a:latin typeface="Calibri" panose="020F0502020204030204" pitchFamily="34" charset="0"/>
                <a:ea typeface="Calibri" panose="020F0502020204030204" pitchFamily="34" charset="0"/>
                <a:cs typeface="Calibri" panose="020F0502020204030204" pitchFamily="34" charset="0"/>
                <a:sym typeface="Open Sans"/>
              </a:rPr>
              <a:t>: Introduce Parallelism Concepts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Open Sans"/>
              </a:rPr>
              <a:t>Science Gateway Goal 4</a:t>
            </a:r>
            <a:r>
              <a:rPr lang="en-US" sz="2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Open Sans"/>
              </a:rPr>
              <a:t>: Connect to Science Gateways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sym typeface="Open Sans"/>
              </a:rPr>
              <a:t>Science Gateway Goal 5</a:t>
            </a:r>
            <a:r>
              <a:rPr lang="en-US" sz="2400" dirty="0">
                <a:latin typeface="Calibri" panose="020F0502020204030204" pitchFamily="34" charset="0"/>
                <a:ea typeface="Calibri" panose="020F0502020204030204" pitchFamily="34" charset="0"/>
                <a:cs typeface="Calibri" panose="020F0502020204030204" pitchFamily="34" charset="0"/>
                <a:sym typeface="Open Sans"/>
              </a:rPr>
              <a:t>: Use classroom-friendly Gateway resources: Jetstream2, Cornell Virtual workshop, HPC Carpentry, or Zenodo to experience computing beyond the desktop.</a:t>
            </a:r>
            <a:endParaRPr sz="2400" b="0" i="0" u="none" strike="noStrike" cap="none" dirty="0">
              <a:solidFill>
                <a:schemeClr val="dk1"/>
              </a:solidFill>
              <a:latin typeface="Calibri"/>
              <a:ea typeface="Calibri"/>
              <a:cs typeface="Calibri"/>
              <a:sym typeface="Calibri"/>
            </a:endParaRPr>
          </a:p>
        </p:txBody>
      </p:sp>
      <p:sp>
        <p:nvSpPr>
          <p:cNvPr id="101" name="Google Shape;101;p1"/>
          <p:cNvSpPr txBox="1"/>
          <p:nvPr/>
        </p:nvSpPr>
        <p:spPr>
          <a:xfrm>
            <a:off x="16932732" y="13742154"/>
            <a:ext cx="7315200" cy="341627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i="0" u="none" strike="noStrike" cap="none" dirty="0">
                <a:solidFill>
                  <a:srgbClr val="000000"/>
                </a:solidFill>
                <a:latin typeface="Open Sans"/>
                <a:ea typeface="Open Sans"/>
                <a:cs typeface="Open Sans"/>
                <a:sym typeface="Open Sans"/>
              </a:rPr>
              <a:t>HPC &amp;Cloud Integration</a:t>
            </a:r>
            <a:r>
              <a:rPr lang="en-US" sz="2400" b="0" i="0" u="none" strike="noStrike" cap="none" dirty="0">
                <a:solidFill>
                  <a:srgbClr val="000000"/>
                </a:solidFill>
                <a:latin typeface="Open Sans"/>
                <a:ea typeface="Open Sans"/>
                <a:cs typeface="Open Sans"/>
                <a:sym typeface="Open Sans"/>
              </a:rPr>
              <a:t>: Add a mini-Cloud Lab or Intro to Parallelism module using Jetstream2</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dirty="0">
                <a:latin typeface="Open Sans"/>
                <a:ea typeface="Open Sans"/>
                <a:cs typeface="Open Sans"/>
                <a:sym typeface="Open Sans"/>
              </a:rPr>
              <a:t>AI Literacy</a:t>
            </a:r>
            <a:r>
              <a:rPr lang="en-US" sz="2400" dirty="0">
                <a:latin typeface="Open Sans"/>
                <a:ea typeface="Open Sans"/>
                <a:cs typeface="Open Sans"/>
                <a:sym typeface="Open Sans"/>
              </a:rPr>
              <a:t>: Introduce a Responsible AI lab where students analyze AI-generated code snippets for errors.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dirty="0">
                <a:latin typeface="Open Sans"/>
                <a:ea typeface="Open Sans"/>
                <a:cs typeface="Open Sans"/>
                <a:sym typeface="Open Sans"/>
              </a:rPr>
              <a:t>HPC Literacy Badge: Create a digital badge for completing modules.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endParaRPr lang="en-US" sz="2400" dirty="0">
              <a:latin typeface="Open Sans"/>
              <a:ea typeface="Open Sans"/>
              <a:cs typeface="Open Sans"/>
              <a:sym typeface="Open Sans"/>
            </a:endParaRPr>
          </a:p>
        </p:txBody>
      </p:sp>
      <p:pic>
        <p:nvPicPr>
          <p:cNvPr id="104" name="Google Shape;104;p1"/>
          <p:cNvPicPr preferRelativeResize="0"/>
          <p:nvPr/>
        </p:nvPicPr>
        <p:blipFill rotWithShape="1">
          <a:blip r:embed="rId5">
            <a:alphaModFix/>
          </a:blip>
          <a:srcRect/>
          <a:stretch/>
        </p:blipFill>
        <p:spPr>
          <a:xfrm>
            <a:off x="31054512" y="30819"/>
            <a:ext cx="1463040" cy="1463040"/>
          </a:xfrm>
          <a:prstGeom prst="rect">
            <a:avLst/>
          </a:prstGeom>
          <a:noFill/>
          <a:ln>
            <a:noFill/>
          </a:ln>
        </p:spPr>
      </p:pic>
      <p:sp>
        <p:nvSpPr>
          <p:cNvPr id="107" name="Google Shape;107;p1"/>
          <p:cNvSpPr/>
          <p:nvPr/>
        </p:nvSpPr>
        <p:spPr>
          <a:xfrm>
            <a:off x="26691602" y="13870796"/>
            <a:ext cx="5508848" cy="1463039"/>
          </a:xfrm>
          <a:prstGeom prst="rect">
            <a:avLst/>
          </a:prstGeom>
          <a:noFill/>
          <a:ln>
            <a:noFill/>
          </a:ln>
          <a:effectLst>
            <a:softEdge rad="3175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Faculty Participant: Dr. Sabrina </a:t>
            </a:r>
            <a:r>
              <a:rPr lang="en-US" sz="2000" dirty="0">
                <a:latin typeface="Calibri"/>
                <a:ea typeface="Calibri"/>
                <a:cs typeface="Calibri"/>
                <a:sym typeface="Calibri"/>
              </a:rPr>
              <a:t>Perry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Austin Peay State University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dirty="0">
                <a:latin typeface="Calibri"/>
                <a:ea typeface="Calibri"/>
                <a:cs typeface="Calibri"/>
                <a:sym typeface="Calibri"/>
              </a:rPr>
              <a:t>perrys1@apsu.edu</a:t>
            </a:r>
            <a:endParaRPr sz="2000" b="0" i="0" u="none" strike="noStrike" cap="none" dirty="0">
              <a:solidFill>
                <a:srgbClr val="000000"/>
              </a:solidFill>
              <a:latin typeface="Times New Roman"/>
              <a:ea typeface="Times New Roman"/>
              <a:cs typeface="Times New Roman"/>
              <a:sym typeface="Times New Roman"/>
            </a:endParaRPr>
          </a:p>
        </p:txBody>
      </p:sp>
      <p:sp>
        <p:nvSpPr>
          <p:cNvPr id="14" name="Rectangle 13">
            <a:extLst>
              <a:ext uri="{FF2B5EF4-FFF2-40B4-BE49-F238E27FC236}">
                <a16:creationId xmlns:a16="http://schemas.microsoft.com/office/drawing/2014/main" id="{0CF4C79B-7372-A37A-5093-06B65F2F724B}"/>
              </a:ext>
            </a:extLst>
          </p:cNvPr>
          <p:cNvSpPr/>
          <p:nvPr/>
        </p:nvSpPr>
        <p:spPr>
          <a:xfrm>
            <a:off x="0" y="9368"/>
            <a:ext cx="32918400" cy="2082568"/>
          </a:xfrm>
          <a:prstGeom prst="rect">
            <a:avLst/>
          </a:prstGeom>
          <a:solidFill>
            <a:srgbClr val="00569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descr="A close-up of a paper&#10;&#10;AI-generated content may be incorrect.">
            <a:extLst>
              <a:ext uri="{FF2B5EF4-FFF2-40B4-BE49-F238E27FC236}">
                <a16:creationId xmlns:a16="http://schemas.microsoft.com/office/drawing/2014/main" id="{4C267CA0-B799-FE2D-82F3-69F2B24E2B47}"/>
              </a:ext>
            </a:extLst>
          </p:cNvPr>
          <p:cNvPicPr>
            <a:picLocks noChangeAspect="1"/>
          </p:cNvPicPr>
          <p:nvPr/>
        </p:nvPicPr>
        <p:blipFill>
          <a:blip r:embed="rId6"/>
          <a:stretch>
            <a:fillRect/>
          </a:stretch>
        </p:blipFill>
        <p:spPr>
          <a:xfrm>
            <a:off x="112040" y="-2570"/>
            <a:ext cx="8230532" cy="2057633"/>
          </a:xfrm>
          <a:prstGeom prst="rect">
            <a:avLst/>
          </a:prstGeom>
        </p:spPr>
      </p:pic>
      <p:sp>
        <p:nvSpPr>
          <p:cNvPr id="36" name="TextBox 35">
            <a:extLst>
              <a:ext uri="{FF2B5EF4-FFF2-40B4-BE49-F238E27FC236}">
                <a16:creationId xmlns:a16="http://schemas.microsoft.com/office/drawing/2014/main" id="{2119AF72-D483-7118-C541-86D3209C2CAF}"/>
              </a:ext>
            </a:extLst>
          </p:cNvPr>
          <p:cNvSpPr txBox="1"/>
          <p:nvPr/>
        </p:nvSpPr>
        <p:spPr>
          <a:xfrm>
            <a:off x="30202094" y="1390886"/>
            <a:ext cx="2716306" cy="738664"/>
          </a:xfrm>
          <a:prstGeom prst="rect">
            <a:avLst/>
          </a:prstGeom>
          <a:noFill/>
        </p:spPr>
        <p:txBody>
          <a:bodyPr wrap="square" rtlCol="0">
            <a:spAutoFit/>
          </a:bodyPr>
          <a:lstStyle/>
          <a:p>
            <a:pPr algn="ctr"/>
            <a:r>
              <a:rPr lang="en-US" dirty="0">
                <a:solidFill>
                  <a:srgbClr val="F7E8C9"/>
                </a:solidFill>
              </a:rPr>
              <a:t>SGX3 is funded by the </a:t>
            </a:r>
            <a:br>
              <a:rPr lang="en-US" dirty="0">
                <a:solidFill>
                  <a:srgbClr val="F7E8C9"/>
                </a:solidFill>
              </a:rPr>
            </a:br>
            <a:r>
              <a:rPr lang="en-US" dirty="0">
                <a:solidFill>
                  <a:srgbClr val="F7E8C9"/>
                </a:solidFill>
              </a:rPr>
              <a:t>National Science Foundation </a:t>
            </a:r>
            <a:br>
              <a:rPr lang="en-US" dirty="0">
                <a:solidFill>
                  <a:srgbClr val="F7E8C9"/>
                </a:solidFill>
              </a:rPr>
            </a:br>
            <a:r>
              <a:rPr lang="en-US" dirty="0">
                <a:solidFill>
                  <a:srgbClr val="F7E8C9"/>
                </a:solidFill>
              </a:rPr>
              <a:t>under award number 2231406.</a:t>
            </a:r>
          </a:p>
        </p:txBody>
      </p:sp>
      <p:pic>
        <p:nvPicPr>
          <p:cNvPr id="35" name="Graphic 34">
            <a:extLst>
              <a:ext uri="{FF2B5EF4-FFF2-40B4-BE49-F238E27FC236}">
                <a16:creationId xmlns:a16="http://schemas.microsoft.com/office/drawing/2014/main" id="{0CE00AC2-6AD6-91C2-1152-95FDC03606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054512" y="170344"/>
            <a:ext cx="1310610" cy="1310610"/>
          </a:xfrm>
          <a:prstGeom prst="rect">
            <a:avLst/>
          </a:prstGeom>
        </p:spPr>
      </p:pic>
      <p:sp>
        <p:nvSpPr>
          <p:cNvPr id="4" name="TextBox 3"/>
          <p:cNvSpPr txBox="1"/>
          <p:nvPr/>
        </p:nvSpPr>
        <p:spPr>
          <a:xfrm>
            <a:off x="9082950" y="60388"/>
            <a:ext cx="16879336" cy="1754326"/>
          </a:xfrm>
          <a:prstGeom prst="rect">
            <a:avLst/>
          </a:prstGeom>
          <a:noFill/>
        </p:spPr>
        <p:txBody>
          <a:bodyPr wrap="square">
            <a:spAutoFit/>
          </a:bodyPr>
          <a:lstStyle/>
          <a:p>
            <a:pPr>
              <a:defRPr sz="6000" b="1">
                <a:solidFill>
                  <a:srgbClr val="004C99"/>
                </a:solidFill>
              </a:defRPr>
            </a:pPr>
            <a:r>
              <a:rPr lang="en-US" sz="5400" dirty="0">
                <a:solidFill>
                  <a:srgbClr val="F7E8C9"/>
                </a:solidFill>
              </a:rPr>
              <a:t>Integrating HPC and AI Literacy into Introductory Java Programming w/Science Gateways</a:t>
            </a:r>
          </a:p>
        </p:txBody>
      </p:sp>
      <p:sp>
        <p:nvSpPr>
          <p:cNvPr id="5" name="TextBox 4"/>
          <p:cNvSpPr txBox="1"/>
          <p:nvPr/>
        </p:nvSpPr>
        <p:spPr>
          <a:xfrm>
            <a:off x="290920" y="2282711"/>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Introduction</a:t>
            </a:r>
            <a:endParaRPr sz="3600" dirty="0">
              <a:solidFill>
                <a:srgbClr val="F7E8C9"/>
              </a:solidFill>
            </a:endParaRPr>
          </a:p>
        </p:txBody>
      </p:sp>
      <p:sp>
        <p:nvSpPr>
          <p:cNvPr id="19" name="Rectangle 18">
            <a:extLst>
              <a:ext uri="{FF2B5EF4-FFF2-40B4-BE49-F238E27FC236}">
                <a16:creationId xmlns:a16="http://schemas.microsoft.com/office/drawing/2014/main" id="{BB8C6531-1CFA-6680-703D-4F8B1867032F}"/>
              </a:ext>
            </a:extLst>
          </p:cNvPr>
          <p:cNvSpPr/>
          <p:nvPr/>
        </p:nvSpPr>
        <p:spPr>
          <a:xfrm>
            <a:off x="0" y="21069294"/>
            <a:ext cx="32918400" cy="876305"/>
          </a:xfrm>
          <a:prstGeom prst="rect">
            <a:avLst/>
          </a:prstGeom>
          <a:solidFill>
            <a:srgbClr val="00569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BB64A0CF-8114-883B-852B-475C1FD1F676}"/>
              </a:ext>
            </a:extLst>
          </p:cNvPr>
          <p:cNvGrpSpPr/>
          <p:nvPr/>
        </p:nvGrpSpPr>
        <p:grpSpPr>
          <a:xfrm>
            <a:off x="290920" y="21146239"/>
            <a:ext cx="8792030" cy="739043"/>
            <a:chOff x="0" y="3683700"/>
            <a:chExt cx="4029900" cy="435000"/>
          </a:xfrm>
        </p:grpSpPr>
        <p:sp>
          <p:nvSpPr>
            <p:cNvPr id="20" name="Google Shape;69;p15">
              <a:extLst>
                <a:ext uri="{FF2B5EF4-FFF2-40B4-BE49-F238E27FC236}">
                  <a16:creationId xmlns:a16="http://schemas.microsoft.com/office/drawing/2014/main" id="{0C3782D3-3369-AD89-E256-F0B0CF554462}"/>
                </a:ext>
              </a:extLst>
            </p:cNvPr>
            <p:cNvSpPr/>
            <p:nvPr/>
          </p:nvSpPr>
          <p:spPr>
            <a:xfrm>
              <a:off x="0" y="3683700"/>
              <a:ext cx="4029900" cy="435000"/>
            </a:xfrm>
            <a:prstGeom prst="rect">
              <a:avLst/>
            </a:prstGeom>
            <a:solidFill>
              <a:schemeClr val="lt1"/>
            </a:solidFill>
            <a:ln w="8300" cap="flat" cmpd="sng">
              <a:solidFill>
                <a:schemeClr val="dk2"/>
              </a:solidFill>
              <a:prstDash val="solid"/>
              <a:round/>
              <a:headEnd type="none" w="sm" len="sm"/>
              <a:tailEnd type="none" w="sm" len="sm"/>
            </a:ln>
          </p:spPr>
          <p:txBody>
            <a:bodyPr spcFirstLastPara="1" wrap="square" lIns="79675" tIns="79675" rIns="79675" bIns="79675" anchor="ctr" anchorCtr="0">
              <a:noAutofit/>
            </a:bodyPr>
            <a:lstStyle/>
            <a:p>
              <a:pPr algn="ctr"/>
              <a:endParaRPr sz="1219">
                <a:latin typeface="Calibri"/>
                <a:ea typeface="Calibri"/>
                <a:cs typeface="Calibri"/>
                <a:sym typeface="Calibri"/>
              </a:endParaRPr>
            </a:p>
          </p:txBody>
        </p:sp>
        <p:pic>
          <p:nvPicPr>
            <p:cNvPr id="21" name="Google Shape;70;p15">
              <a:extLst>
                <a:ext uri="{FF2B5EF4-FFF2-40B4-BE49-F238E27FC236}">
                  <a16:creationId xmlns:a16="http://schemas.microsoft.com/office/drawing/2014/main" id="{90B0E71C-9A5A-57B9-B2D4-E029C364720B}"/>
                </a:ext>
              </a:extLst>
            </p:cNvPr>
            <p:cNvPicPr preferRelativeResize="0"/>
            <p:nvPr/>
          </p:nvPicPr>
          <p:blipFill rotWithShape="1">
            <a:blip r:embed="rId9">
              <a:alphaModFix/>
            </a:blip>
            <a:srcRect/>
            <a:stretch/>
          </p:blipFill>
          <p:spPr>
            <a:xfrm>
              <a:off x="141022" y="3749892"/>
              <a:ext cx="1037645" cy="309910"/>
            </a:xfrm>
            <a:prstGeom prst="rect">
              <a:avLst/>
            </a:prstGeom>
            <a:noFill/>
            <a:ln>
              <a:noFill/>
            </a:ln>
          </p:spPr>
        </p:pic>
        <p:pic>
          <p:nvPicPr>
            <p:cNvPr id="22" name="Google Shape;71;p15" descr="A green and white logo&#10;&#10;Description automatically generated">
              <a:extLst>
                <a:ext uri="{FF2B5EF4-FFF2-40B4-BE49-F238E27FC236}">
                  <a16:creationId xmlns:a16="http://schemas.microsoft.com/office/drawing/2014/main" id="{B57B68C1-FDCA-72F2-7EFD-5330C247B196}"/>
                </a:ext>
              </a:extLst>
            </p:cNvPr>
            <p:cNvPicPr preferRelativeResize="0"/>
            <p:nvPr/>
          </p:nvPicPr>
          <p:blipFill rotWithShape="1">
            <a:blip r:embed="rId10">
              <a:alphaModFix/>
            </a:blip>
            <a:srcRect/>
            <a:stretch/>
          </p:blipFill>
          <p:spPr>
            <a:xfrm>
              <a:off x="1254133" y="3715341"/>
              <a:ext cx="737581" cy="379034"/>
            </a:xfrm>
            <a:prstGeom prst="rect">
              <a:avLst/>
            </a:prstGeom>
            <a:noFill/>
            <a:ln>
              <a:noFill/>
            </a:ln>
          </p:spPr>
        </p:pic>
        <p:pic>
          <p:nvPicPr>
            <p:cNvPr id="23" name="Google Shape;72;p15" descr="A blue and orange logo&#10;&#10;Description automatically generated">
              <a:extLst>
                <a:ext uri="{FF2B5EF4-FFF2-40B4-BE49-F238E27FC236}">
                  <a16:creationId xmlns:a16="http://schemas.microsoft.com/office/drawing/2014/main" id="{54A2883F-52F9-10E8-FD61-0467F17FE830}"/>
                </a:ext>
              </a:extLst>
            </p:cNvPr>
            <p:cNvPicPr preferRelativeResize="0"/>
            <p:nvPr/>
          </p:nvPicPr>
          <p:blipFill rotWithShape="1">
            <a:blip r:embed="rId11">
              <a:alphaModFix/>
            </a:blip>
            <a:srcRect/>
            <a:stretch/>
          </p:blipFill>
          <p:spPr>
            <a:xfrm>
              <a:off x="2033110" y="3745992"/>
              <a:ext cx="1108279" cy="317732"/>
            </a:xfrm>
            <a:prstGeom prst="rect">
              <a:avLst/>
            </a:prstGeom>
            <a:noFill/>
            <a:ln>
              <a:noFill/>
            </a:ln>
          </p:spPr>
        </p:pic>
        <p:pic>
          <p:nvPicPr>
            <p:cNvPr id="24" name="Google Shape;73;p15">
              <a:extLst>
                <a:ext uri="{FF2B5EF4-FFF2-40B4-BE49-F238E27FC236}">
                  <a16:creationId xmlns:a16="http://schemas.microsoft.com/office/drawing/2014/main" id="{ACA11398-BAB7-2B3E-DCFC-52D7042408DB}"/>
                </a:ext>
              </a:extLst>
            </p:cNvPr>
            <p:cNvPicPr preferRelativeResize="0"/>
            <p:nvPr/>
          </p:nvPicPr>
          <p:blipFill rotWithShape="1">
            <a:blip r:embed="rId12">
              <a:alphaModFix/>
            </a:blip>
            <a:srcRect/>
            <a:stretch/>
          </p:blipFill>
          <p:spPr>
            <a:xfrm>
              <a:off x="3182783" y="3745992"/>
              <a:ext cx="811556" cy="317732"/>
            </a:xfrm>
            <a:prstGeom prst="rect">
              <a:avLst/>
            </a:prstGeom>
            <a:noFill/>
            <a:ln>
              <a:noFill/>
            </a:ln>
          </p:spPr>
        </p:pic>
      </p:grpSp>
      <p:pic>
        <p:nvPicPr>
          <p:cNvPr id="28" name="Picture 27" descr="A qr code on a white background&#10;&#10;AI-generated content may be incorrect.">
            <a:extLst>
              <a:ext uri="{FF2B5EF4-FFF2-40B4-BE49-F238E27FC236}">
                <a16:creationId xmlns:a16="http://schemas.microsoft.com/office/drawing/2014/main" id="{D7C7E461-90CF-111D-48A6-BC5162F09726}"/>
              </a:ext>
            </a:extLst>
          </p:cNvPr>
          <p:cNvPicPr>
            <a:picLocks noChangeAspect="1"/>
          </p:cNvPicPr>
          <p:nvPr/>
        </p:nvPicPr>
        <p:blipFill>
          <a:blip r:embed="rId13"/>
          <a:stretch>
            <a:fillRect/>
          </a:stretch>
        </p:blipFill>
        <p:spPr>
          <a:xfrm>
            <a:off x="31873763" y="21089605"/>
            <a:ext cx="888110" cy="888110"/>
          </a:xfrm>
          <a:prstGeom prst="rect">
            <a:avLst/>
          </a:prstGeom>
        </p:spPr>
      </p:pic>
      <p:sp>
        <p:nvSpPr>
          <p:cNvPr id="26" name="Google Shape;74;p15">
            <a:extLst>
              <a:ext uri="{FF2B5EF4-FFF2-40B4-BE49-F238E27FC236}">
                <a16:creationId xmlns:a16="http://schemas.microsoft.com/office/drawing/2014/main" id="{6B248727-0E2C-F2B1-B8CD-9CC2CA337C4F}"/>
              </a:ext>
            </a:extLst>
          </p:cNvPr>
          <p:cNvSpPr txBox="1"/>
          <p:nvPr/>
        </p:nvSpPr>
        <p:spPr>
          <a:xfrm>
            <a:off x="12520506" y="21207482"/>
            <a:ext cx="14171096" cy="684773"/>
          </a:xfrm>
          <a:prstGeom prst="rect">
            <a:avLst/>
          </a:prstGeom>
          <a:noFill/>
          <a:ln>
            <a:noFill/>
          </a:ln>
        </p:spPr>
        <p:txBody>
          <a:bodyPr spcFirstLastPara="1" wrap="square" lIns="68575" tIns="34275" rIns="68575" bIns="34275" anchor="t" anchorCtr="0">
            <a:spAutoFit/>
          </a:bodyPr>
          <a:lstStyle/>
          <a:p>
            <a:r>
              <a:rPr lang="en" sz="4000" b="1" dirty="0">
                <a:solidFill>
                  <a:schemeClr val="bg1"/>
                </a:solidFill>
                <a:latin typeface="Calibri" panose="020F0502020204030204" pitchFamily="34" charset="0"/>
                <a:ea typeface="Calibri" panose="020F0502020204030204" pitchFamily="34" charset="0"/>
                <a:cs typeface="Calibri" panose="020F0502020204030204" pitchFamily="34" charset="0"/>
                <a:sym typeface="Avenir"/>
              </a:rPr>
              <a:t>Event Site: </a:t>
            </a:r>
            <a:r>
              <a:rPr lang="en" sz="4000" dirty="0">
                <a:solidFill>
                  <a:schemeClr val="bg1"/>
                </a:solidFill>
                <a:latin typeface="Calibri" panose="020F0502020204030204" pitchFamily="34" charset="0"/>
                <a:ea typeface="Calibri" panose="020F0502020204030204" pitchFamily="34" charset="0"/>
                <a:cs typeface="Calibri" panose="020F0502020204030204" pitchFamily="34" charset="0"/>
                <a:sym typeface="Avenir"/>
              </a:rPr>
              <a:t>https://</a:t>
            </a:r>
            <a:r>
              <a:rPr lang="en" sz="4000" dirty="0" err="1">
                <a:solidFill>
                  <a:schemeClr val="bg1"/>
                </a:solidFill>
                <a:latin typeface="Calibri" panose="020F0502020204030204" pitchFamily="34" charset="0"/>
                <a:ea typeface="Calibri" panose="020F0502020204030204" pitchFamily="34" charset="0"/>
                <a:cs typeface="Calibri" panose="020F0502020204030204" pitchFamily="34" charset="0"/>
                <a:sym typeface="Avenir"/>
              </a:rPr>
              <a:t>hackhpc.github.io</a:t>
            </a:r>
            <a:r>
              <a:rPr lang="en" sz="4000" dirty="0">
                <a:solidFill>
                  <a:schemeClr val="bg1"/>
                </a:solidFill>
                <a:latin typeface="Calibri" panose="020F0502020204030204" pitchFamily="34" charset="0"/>
                <a:ea typeface="Calibri" panose="020F0502020204030204" pitchFamily="34" charset="0"/>
                <a:cs typeface="Calibri" panose="020F0502020204030204" pitchFamily="34" charset="0"/>
                <a:sym typeface="Avenir"/>
              </a:rPr>
              <a:t>/facultyhack-gateways25</a:t>
            </a:r>
            <a:endParaRPr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E8C8F0A-1383-D5CD-187B-6A430C65435C}"/>
              </a:ext>
            </a:extLst>
          </p:cNvPr>
          <p:cNvSpPr txBox="1"/>
          <p:nvPr/>
        </p:nvSpPr>
        <p:spPr>
          <a:xfrm>
            <a:off x="24845595" y="12273565"/>
            <a:ext cx="7896450" cy="646331"/>
          </a:xfrm>
          <a:prstGeom prst="rect">
            <a:avLst/>
          </a:prstGeom>
          <a:solidFill>
            <a:srgbClr val="005698"/>
          </a:solidFill>
        </p:spPr>
        <p:txBody>
          <a:bodyPr wrap="square" lIns="457200" anchor="ctr">
            <a:spAutoFit/>
          </a:bodyPr>
          <a:lstStyle/>
          <a:p>
            <a:pPr algn="ctr">
              <a:defRPr sz="3600" b="1">
                <a:solidFill>
                  <a:srgbClr val="004C99"/>
                </a:solidFill>
              </a:defRPr>
            </a:pPr>
            <a:r>
              <a:rPr lang="en-US" sz="3600" dirty="0">
                <a:solidFill>
                  <a:srgbClr val="F7E8C9"/>
                </a:solidFill>
              </a:rPr>
              <a:t>Authors</a:t>
            </a:r>
            <a:endParaRPr sz="3600" dirty="0">
              <a:solidFill>
                <a:srgbClr val="F7E8C9"/>
              </a:solidFill>
            </a:endParaRPr>
          </a:p>
        </p:txBody>
      </p:sp>
      <p:pic>
        <p:nvPicPr>
          <p:cNvPr id="9" name="Picture 8" descr="A person in a suit and tie&#10;&#10;AI-generated content may be incorrect.">
            <a:extLst>
              <a:ext uri="{FF2B5EF4-FFF2-40B4-BE49-F238E27FC236}">
                <a16:creationId xmlns:a16="http://schemas.microsoft.com/office/drawing/2014/main" id="{9452EC24-0C1B-636C-4D38-030175794167}"/>
              </a:ext>
            </a:extLst>
          </p:cNvPr>
          <p:cNvPicPr>
            <a:picLocks noChangeAspect="1"/>
          </p:cNvPicPr>
          <p:nvPr/>
        </p:nvPicPr>
        <p:blipFill>
          <a:blip r:embed="rId14"/>
          <a:srcRect t="11405" r="18583" b="34191"/>
          <a:stretch/>
        </p:blipFill>
        <p:spPr>
          <a:xfrm>
            <a:off x="24963093" y="15741316"/>
            <a:ext cx="1640792" cy="2373630"/>
          </a:xfrm>
          <a:prstGeom prst="rect">
            <a:avLst/>
          </a:prstGeom>
          <a:ln>
            <a:solidFill>
              <a:srgbClr val="005698"/>
            </a:solidFill>
          </a:ln>
        </p:spPr>
      </p:pic>
      <p:pic>
        <p:nvPicPr>
          <p:cNvPr id="11" name="Picture 10" descr="A person smiling for a picture&#10;&#10;AI-generated content may be incorrect.">
            <a:extLst>
              <a:ext uri="{FF2B5EF4-FFF2-40B4-BE49-F238E27FC236}">
                <a16:creationId xmlns:a16="http://schemas.microsoft.com/office/drawing/2014/main" id="{35E36958-5D84-DA6C-D7F9-6551023D3048}"/>
              </a:ext>
            </a:extLst>
          </p:cNvPr>
          <p:cNvPicPr>
            <a:picLocks noChangeAspect="1"/>
          </p:cNvPicPr>
          <p:nvPr/>
        </p:nvPicPr>
        <p:blipFill>
          <a:blip r:embed="rId15"/>
          <a:srcRect l="19124" r="14408"/>
          <a:stretch/>
        </p:blipFill>
        <p:spPr>
          <a:xfrm>
            <a:off x="24995252" y="18330689"/>
            <a:ext cx="1576474" cy="2371812"/>
          </a:xfrm>
          <a:prstGeom prst="rect">
            <a:avLst/>
          </a:prstGeom>
          <a:ln>
            <a:solidFill>
              <a:srgbClr val="005698"/>
            </a:solidFill>
          </a:ln>
        </p:spPr>
      </p:pic>
      <p:pic>
        <p:nvPicPr>
          <p:cNvPr id="13" name="Picture 12" descr="A person wearing a suit and glasses&#10;&#10;AI-generated content may be incorrect.">
            <a:extLst>
              <a:ext uri="{FF2B5EF4-FFF2-40B4-BE49-F238E27FC236}">
                <a16:creationId xmlns:a16="http://schemas.microsoft.com/office/drawing/2014/main" id="{D57DA57F-5834-DADA-C9FB-1E4D25273E60}"/>
              </a:ext>
            </a:extLst>
          </p:cNvPr>
          <p:cNvPicPr>
            <a:picLocks noChangeAspect="1"/>
          </p:cNvPicPr>
          <p:nvPr/>
        </p:nvPicPr>
        <p:blipFill>
          <a:blip r:embed="rId16"/>
          <a:stretch>
            <a:fillRect/>
          </a:stretch>
        </p:blipFill>
        <p:spPr>
          <a:xfrm>
            <a:off x="25014537" y="13058084"/>
            <a:ext cx="1634921" cy="2451185"/>
          </a:xfrm>
          <a:prstGeom prst="rect">
            <a:avLst/>
          </a:prstGeom>
          <a:ln>
            <a:solidFill>
              <a:srgbClr val="005698"/>
            </a:solidFill>
          </a:ln>
          <a:effectLst>
            <a:softEdge rad="12700"/>
          </a:effectLst>
        </p:spPr>
      </p:pic>
      <p:sp>
        <p:nvSpPr>
          <p:cNvPr id="38" name="Google Shape;107;p1">
            <a:extLst>
              <a:ext uri="{FF2B5EF4-FFF2-40B4-BE49-F238E27FC236}">
                <a16:creationId xmlns:a16="http://schemas.microsoft.com/office/drawing/2014/main" id="{4265666D-EA56-D5BF-B29B-ABDD1C1BEC25}"/>
              </a:ext>
            </a:extLst>
          </p:cNvPr>
          <p:cNvSpPr/>
          <p:nvPr/>
        </p:nvSpPr>
        <p:spPr>
          <a:xfrm>
            <a:off x="26692855" y="16526457"/>
            <a:ext cx="5508848" cy="1463039"/>
          </a:xfrm>
          <a:prstGeom prst="rect">
            <a:avLst/>
          </a:prstGeom>
          <a:noFill/>
          <a:ln>
            <a:noFill/>
          </a:ln>
          <a:effectLst>
            <a:softEdge rad="3175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Faculty Mentor: Dr. Izzat </a:t>
            </a:r>
            <a:r>
              <a:rPr lang="en-US" sz="2000" b="0" i="0" u="none" strike="noStrike" cap="none" dirty="0" err="1">
                <a:solidFill>
                  <a:srgbClr val="000000"/>
                </a:solidFill>
                <a:latin typeface="Calibri"/>
                <a:ea typeface="Calibri"/>
                <a:cs typeface="Calibri"/>
                <a:sym typeface="Calibri"/>
              </a:rPr>
              <a:t>Alsmadi</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Texas A&amp;M University, San Antonio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ialsmadi@tamusa.edu</a:t>
            </a:r>
            <a:endParaRPr sz="2000" b="0" i="0" u="none" strike="noStrike" cap="none" dirty="0">
              <a:solidFill>
                <a:srgbClr val="000000"/>
              </a:solidFill>
              <a:latin typeface="Times New Roman"/>
              <a:ea typeface="Times New Roman"/>
              <a:cs typeface="Times New Roman"/>
              <a:sym typeface="Times New Roman"/>
            </a:endParaRPr>
          </a:p>
        </p:txBody>
      </p:sp>
      <p:sp>
        <p:nvSpPr>
          <p:cNvPr id="39" name="Google Shape;107;p1">
            <a:extLst>
              <a:ext uri="{FF2B5EF4-FFF2-40B4-BE49-F238E27FC236}">
                <a16:creationId xmlns:a16="http://schemas.microsoft.com/office/drawing/2014/main" id="{989461B6-0E4A-3BC7-A7A0-F669501142E0}"/>
              </a:ext>
            </a:extLst>
          </p:cNvPr>
          <p:cNvSpPr/>
          <p:nvPr/>
        </p:nvSpPr>
        <p:spPr>
          <a:xfrm>
            <a:off x="26691671" y="18639008"/>
            <a:ext cx="5508848" cy="1463039"/>
          </a:xfrm>
          <a:prstGeom prst="rect">
            <a:avLst/>
          </a:prstGeom>
          <a:noFill/>
          <a:ln>
            <a:noFill/>
          </a:ln>
          <a:effectLst>
            <a:softEdge rad="31750"/>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Faculty Mentor: Dr. John Holmen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Oak Ridge National Laboratory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holmenjk@ornl.gov</a:t>
            </a:r>
            <a:endParaRPr sz="2000" b="0" i="0" u="none" strike="noStrike" cap="none" dirty="0">
              <a:solidFill>
                <a:srgbClr val="000000"/>
              </a:solidFill>
              <a:latin typeface="Times New Roman"/>
              <a:ea typeface="Times New Roman"/>
              <a:cs typeface="Times New Roman"/>
              <a:sym typeface="Times New Roman"/>
            </a:endParaRPr>
          </a:p>
        </p:txBody>
      </p:sp>
      <p:sp>
        <p:nvSpPr>
          <p:cNvPr id="40" name="TextBox 39">
            <a:extLst>
              <a:ext uri="{FF2B5EF4-FFF2-40B4-BE49-F238E27FC236}">
                <a16:creationId xmlns:a16="http://schemas.microsoft.com/office/drawing/2014/main" id="{A2878357-B1FA-BC41-B126-22C0C6FB6BBD}"/>
              </a:ext>
            </a:extLst>
          </p:cNvPr>
          <p:cNvSpPr txBox="1"/>
          <p:nvPr/>
        </p:nvSpPr>
        <p:spPr>
          <a:xfrm>
            <a:off x="353910" y="6186674"/>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Target Course Description</a:t>
            </a:r>
            <a:endParaRPr sz="3600" dirty="0">
              <a:solidFill>
                <a:srgbClr val="F7E8C9"/>
              </a:solidFill>
            </a:endParaRPr>
          </a:p>
        </p:txBody>
      </p:sp>
      <p:graphicFrame>
        <p:nvGraphicFramePr>
          <p:cNvPr id="63" name="Table 62">
            <a:extLst>
              <a:ext uri="{FF2B5EF4-FFF2-40B4-BE49-F238E27FC236}">
                <a16:creationId xmlns:a16="http://schemas.microsoft.com/office/drawing/2014/main" id="{29D1CFE2-D743-671C-4AF3-A058E46F527F}"/>
              </a:ext>
            </a:extLst>
          </p:cNvPr>
          <p:cNvGraphicFramePr>
            <a:graphicFrameLocks noGrp="1"/>
          </p:cNvGraphicFramePr>
          <p:nvPr>
            <p:extLst>
              <p:ext uri="{D42A27DB-BD31-4B8C-83A1-F6EECF244321}">
                <p14:modId xmlns:p14="http://schemas.microsoft.com/office/powerpoint/2010/main" val="627282600"/>
              </p:ext>
            </p:extLst>
          </p:nvPr>
        </p:nvGraphicFramePr>
        <p:xfrm>
          <a:off x="353910" y="7022610"/>
          <a:ext cx="7821807" cy="5038573"/>
        </p:xfrm>
        <a:graphic>
          <a:graphicData uri="http://schemas.openxmlformats.org/drawingml/2006/table">
            <a:tbl>
              <a:tblPr firstRow="1" bandRow="1">
                <a:tableStyleId>{46F890A9-2807-4EBB-B81D-B2AA78EC7F39}</a:tableStyleId>
              </a:tblPr>
              <a:tblGrid>
                <a:gridCol w="1918059">
                  <a:extLst>
                    <a:ext uri="{9D8B030D-6E8A-4147-A177-3AD203B41FA5}">
                      <a16:colId xmlns:a16="http://schemas.microsoft.com/office/drawing/2014/main" val="676671448"/>
                    </a:ext>
                  </a:extLst>
                </a:gridCol>
                <a:gridCol w="5903748">
                  <a:extLst>
                    <a:ext uri="{9D8B030D-6E8A-4147-A177-3AD203B41FA5}">
                      <a16:colId xmlns:a16="http://schemas.microsoft.com/office/drawing/2014/main" val="1267472654"/>
                    </a:ext>
                  </a:extLst>
                </a:gridCol>
              </a:tblGrid>
              <a:tr h="550477">
                <a:tc>
                  <a:txBody>
                    <a:bodyPr/>
                    <a:lstStyle/>
                    <a:p>
                      <a:pPr algn="r"/>
                      <a:r>
                        <a:rPr lang="en-US" sz="1800" b="1" dirty="0">
                          <a:solidFill>
                            <a:schemeClr val="tx1"/>
                          </a:solidFill>
                        </a:rPr>
                        <a:t>Course Name:</a:t>
                      </a:r>
                    </a:p>
                  </a:txBody>
                  <a:tcPr anchor="ctr">
                    <a:lnL w="28575" cap="flat" cmpd="sng" algn="ctr">
                      <a:solidFill>
                        <a:srgbClr val="005698"/>
                      </a:solidFill>
                      <a:prstDash val="solid"/>
                      <a:round/>
                      <a:headEnd type="none" w="med" len="med"/>
                      <a:tailEnd type="none" w="med" len="med"/>
                    </a:lnL>
                    <a:lnT w="28575" cap="flat" cmpd="sng" algn="ctr">
                      <a:solidFill>
                        <a:srgbClr val="005698"/>
                      </a:solidFill>
                      <a:prstDash val="solid"/>
                      <a:round/>
                      <a:headEnd type="none" w="med" len="med"/>
                      <a:tailEnd type="none" w="med" len="med"/>
                    </a:lnT>
                    <a:solidFill>
                      <a:srgbClr val="EBEFF7"/>
                    </a:solidFill>
                  </a:tcPr>
                </a:tc>
                <a:tc>
                  <a:txBody>
                    <a:bodyPr/>
                    <a:lstStyle/>
                    <a:p>
                      <a:r>
                        <a:rPr lang="en-US" sz="1800" b="1" dirty="0">
                          <a:solidFill>
                            <a:schemeClr val="tx1"/>
                          </a:solidFill>
                        </a:rPr>
                        <a:t>Introduction to Programming I</a:t>
                      </a:r>
                    </a:p>
                  </a:txBody>
                  <a:tcPr anchor="ctr">
                    <a:lnR w="28575" cap="flat" cmpd="sng" algn="ctr">
                      <a:solidFill>
                        <a:srgbClr val="005698"/>
                      </a:solidFill>
                      <a:prstDash val="solid"/>
                      <a:round/>
                      <a:headEnd type="none" w="med" len="med"/>
                      <a:tailEnd type="none" w="med" len="med"/>
                    </a:lnR>
                    <a:lnT w="28575" cap="flat" cmpd="sng" algn="ctr">
                      <a:solidFill>
                        <a:srgbClr val="005698"/>
                      </a:solidFill>
                      <a:prstDash val="solid"/>
                      <a:round/>
                      <a:headEnd type="none" w="med" len="med"/>
                      <a:tailEnd type="none" w="med" len="med"/>
                    </a:lnT>
                    <a:solidFill>
                      <a:srgbClr val="EBEFF7"/>
                    </a:solidFill>
                  </a:tcPr>
                </a:tc>
                <a:extLst>
                  <a:ext uri="{0D108BD9-81ED-4DB2-BD59-A6C34878D82A}">
                    <a16:rowId xmlns:a16="http://schemas.microsoft.com/office/drawing/2014/main" val="3147513868"/>
                  </a:ext>
                </a:extLst>
              </a:tr>
              <a:tr h="489723">
                <a:tc>
                  <a:txBody>
                    <a:bodyPr/>
                    <a:lstStyle/>
                    <a:p>
                      <a:pPr algn="r"/>
                      <a:r>
                        <a:rPr lang="en-US" sz="1800" b="1" dirty="0">
                          <a:solidFill>
                            <a:schemeClr val="tx1"/>
                          </a:solidFill>
                        </a:rPr>
                        <a:t>Course Number:</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CSCI1010/CSCI1011</a:t>
                      </a:r>
                    </a:p>
                  </a:txBody>
                  <a:tcPr anchor="ctr">
                    <a:lnR w="28575" cap="flat" cmpd="sng" algn="ctr">
                      <a:solidFill>
                        <a:srgbClr val="005698"/>
                      </a:solidFill>
                      <a:prstDash val="solid"/>
                      <a:round/>
                      <a:headEnd type="none" w="med" len="med"/>
                      <a:tailEnd type="none" w="med" len="med"/>
                    </a:lnR>
                  </a:tcPr>
                </a:tc>
                <a:extLst>
                  <a:ext uri="{0D108BD9-81ED-4DB2-BD59-A6C34878D82A}">
                    <a16:rowId xmlns:a16="http://schemas.microsoft.com/office/drawing/2014/main" val="197264617"/>
                  </a:ext>
                </a:extLst>
              </a:tr>
              <a:tr h="489723">
                <a:tc>
                  <a:txBody>
                    <a:bodyPr/>
                    <a:lstStyle/>
                    <a:p>
                      <a:pPr algn="r"/>
                      <a:r>
                        <a:rPr lang="en-US" sz="1800" b="1" dirty="0">
                          <a:solidFill>
                            <a:schemeClr val="tx1"/>
                          </a:solidFill>
                        </a:rPr>
                        <a:t>Department:</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Computer Science and Information Technology</a:t>
                      </a:r>
                    </a:p>
                  </a:txBody>
                  <a:tcPr anchor="ctr">
                    <a:lnR w="28575" cap="flat" cmpd="sng" algn="ctr">
                      <a:solidFill>
                        <a:srgbClr val="005698"/>
                      </a:solidFill>
                      <a:prstDash val="solid"/>
                      <a:round/>
                      <a:headEnd type="none" w="med" len="med"/>
                      <a:tailEnd type="none" w="med" len="med"/>
                    </a:lnR>
                    <a:solidFill>
                      <a:srgbClr val="EBEFF7"/>
                    </a:solidFill>
                  </a:tcPr>
                </a:tc>
                <a:extLst>
                  <a:ext uri="{0D108BD9-81ED-4DB2-BD59-A6C34878D82A}">
                    <a16:rowId xmlns:a16="http://schemas.microsoft.com/office/drawing/2014/main" val="1438324315"/>
                  </a:ext>
                </a:extLst>
              </a:tr>
              <a:tr h="604772">
                <a:tc>
                  <a:txBody>
                    <a:bodyPr/>
                    <a:lstStyle/>
                    <a:p>
                      <a:pPr algn="r"/>
                      <a:r>
                        <a:rPr lang="en-US" sz="1800" b="1" dirty="0">
                          <a:solidFill>
                            <a:schemeClr val="tx1"/>
                          </a:solidFill>
                        </a:rPr>
                        <a:t>Anticipated Enrollment:</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35-40 freshman</a:t>
                      </a:r>
                    </a:p>
                  </a:txBody>
                  <a:tcPr anchor="ctr">
                    <a:lnR w="28575" cap="flat" cmpd="sng" algn="ctr">
                      <a:solidFill>
                        <a:srgbClr val="005698"/>
                      </a:solidFill>
                      <a:prstDash val="solid"/>
                      <a:round/>
                      <a:headEnd type="none" w="med" len="med"/>
                      <a:tailEnd type="none" w="med" len="med"/>
                    </a:lnR>
                  </a:tcPr>
                </a:tc>
                <a:extLst>
                  <a:ext uri="{0D108BD9-81ED-4DB2-BD59-A6C34878D82A}">
                    <a16:rowId xmlns:a16="http://schemas.microsoft.com/office/drawing/2014/main" val="13301363"/>
                  </a:ext>
                </a:extLst>
              </a:tr>
              <a:tr h="489723">
                <a:tc>
                  <a:txBody>
                    <a:bodyPr/>
                    <a:lstStyle/>
                    <a:p>
                      <a:pPr algn="r"/>
                      <a:r>
                        <a:rPr lang="en-US" sz="1800" b="1" dirty="0">
                          <a:solidFill>
                            <a:schemeClr val="tx1"/>
                          </a:solidFill>
                        </a:rPr>
                        <a:t>Prerequisites:</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None (Lab co-requisite)</a:t>
                      </a:r>
                    </a:p>
                  </a:txBody>
                  <a:tcPr anchor="ctr">
                    <a:lnR w="28575" cap="flat" cmpd="sng" algn="ctr">
                      <a:solidFill>
                        <a:srgbClr val="005698"/>
                      </a:solidFill>
                      <a:prstDash val="solid"/>
                      <a:round/>
                      <a:headEnd type="none" w="med" len="med"/>
                      <a:tailEnd type="none" w="med" len="med"/>
                    </a:lnR>
                  </a:tcPr>
                </a:tc>
                <a:extLst>
                  <a:ext uri="{0D108BD9-81ED-4DB2-BD59-A6C34878D82A}">
                    <a16:rowId xmlns:a16="http://schemas.microsoft.com/office/drawing/2014/main" val="3153091182"/>
                  </a:ext>
                </a:extLst>
              </a:tr>
              <a:tr h="604772">
                <a:tc>
                  <a:txBody>
                    <a:bodyPr/>
                    <a:lstStyle/>
                    <a:p>
                      <a:pPr algn="r"/>
                      <a:r>
                        <a:rPr lang="en-US" sz="1800" b="1" dirty="0">
                          <a:solidFill>
                            <a:schemeClr val="tx1"/>
                          </a:solidFill>
                        </a:rPr>
                        <a:t>Key Content:</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Java programming fundamentals, loops, conditionals, arrays, methods, objects, debugging</a:t>
                      </a:r>
                    </a:p>
                  </a:txBody>
                  <a:tcPr anchor="ctr">
                    <a:lnR w="28575" cap="flat" cmpd="sng" algn="ctr">
                      <a:solidFill>
                        <a:srgbClr val="005698"/>
                      </a:solidFill>
                      <a:prstDash val="solid"/>
                      <a:round/>
                      <a:headEnd type="none" w="med" len="med"/>
                      <a:tailEnd type="none" w="med" len="med"/>
                    </a:lnR>
                  </a:tcPr>
                </a:tc>
                <a:extLst>
                  <a:ext uri="{0D108BD9-81ED-4DB2-BD59-A6C34878D82A}">
                    <a16:rowId xmlns:a16="http://schemas.microsoft.com/office/drawing/2014/main" val="2720263563"/>
                  </a:ext>
                </a:extLst>
              </a:tr>
              <a:tr h="604772">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chemeClr val="tx1"/>
                          </a:solidFill>
                        </a:rPr>
                        <a:t>Description:</a:t>
                      </a:r>
                    </a:p>
                  </a:txBody>
                  <a:tcPr anchor="ctr">
                    <a:lnL w="28575" cap="flat" cmpd="sng" algn="ctr">
                      <a:solidFill>
                        <a:srgbClr val="005698"/>
                      </a:solidFill>
                      <a:prstDash val="solid"/>
                      <a:round/>
                      <a:headEnd type="none" w="med" len="med"/>
                      <a:tailEnd type="none" w="med" len="med"/>
                    </a:lnL>
                  </a:tcPr>
                </a:tc>
                <a:tc>
                  <a:txBody>
                    <a:bodyPr/>
                    <a:lstStyle/>
                    <a:p>
                      <a:r>
                        <a:rPr lang="en-US" sz="1800" b="1" dirty="0">
                          <a:solidFill>
                            <a:schemeClr val="tx1"/>
                          </a:solidFill>
                        </a:rPr>
                        <a:t>A first course in computer programming, improved with activities introducing scalability, HPC, and AI literacy.</a:t>
                      </a:r>
                    </a:p>
                  </a:txBody>
                  <a:tcPr anchor="ctr">
                    <a:lnR w="28575" cap="flat" cmpd="sng" algn="ctr">
                      <a:solidFill>
                        <a:srgbClr val="005698"/>
                      </a:solidFill>
                      <a:prstDash val="solid"/>
                      <a:round/>
                      <a:headEnd type="none" w="med" len="med"/>
                      <a:tailEnd type="none" w="med" len="med"/>
                    </a:lnR>
                  </a:tcPr>
                </a:tc>
                <a:extLst>
                  <a:ext uri="{0D108BD9-81ED-4DB2-BD59-A6C34878D82A}">
                    <a16:rowId xmlns:a16="http://schemas.microsoft.com/office/drawing/2014/main" val="1561602999"/>
                  </a:ext>
                </a:extLst>
              </a:tr>
              <a:tr h="674010">
                <a:tc>
                  <a:txBody>
                    <a:bodyPr/>
                    <a:lstStyle/>
                    <a:p>
                      <a:pPr algn="r"/>
                      <a:r>
                        <a:rPr lang="en-US" sz="1800" b="1" dirty="0">
                          <a:solidFill>
                            <a:schemeClr val="tx1"/>
                          </a:solidFill>
                        </a:rPr>
                        <a:t>Project Repo:</a:t>
                      </a:r>
                    </a:p>
                  </a:txBody>
                  <a:tcPr anchor="ctr">
                    <a:lnL w="28575" cap="flat" cmpd="sng" algn="ctr">
                      <a:solidFill>
                        <a:srgbClr val="005698"/>
                      </a:solidFill>
                      <a:prstDash val="solid"/>
                      <a:round/>
                      <a:headEnd type="none" w="med" len="med"/>
                      <a:tailEnd type="none" w="med" len="med"/>
                    </a:lnL>
                    <a:lnB w="28575" cap="flat" cmpd="sng" algn="ctr">
                      <a:solidFill>
                        <a:srgbClr val="005698"/>
                      </a:solidFill>
                      <a:prstDash val="solid"/>
                      <a:round/>
                      <a:headEnd type="none" w="med" len="med"/>
                      <a:tailEnd type="none" w="med" len="med"/>
                    </a:lnB>
                  </a:tcPr>
                </a:tc>
                <a:tc>
                  <a:txBody>
                    <a:bodyPr/>
                    <a:lstStyle/>
                    <a:p>
                      <a:r>
                        <a:rPr lang="en-US" sz="1800" b="1" dirty="0">
                          <a:solidFill>
                            <a:schemeClr val="tx1"/>
                          </a:solidFill>
                        </a:rPr>
                        <a:t>[https://github.com/suhbrina-perry/FacultyHackHPC25]</a:t>
                      </a:r>
                    </a:p>
                  </a:txBody>
                  <a:tcPr anchor="ctr">
                    <a:lnR w="28575" cap="flat" cmpd="sng" algn="ctr">
                      <a:solidFill>
                        <a:srgbClr val="005698"/>
                      </a:solidFill>
                      <a:prstDash val="solid"/>
                      <a:round/>
                      <a:headEnd type="none" w="med" len="med"/>
                      <a:tailEnd type="none" w="med" len="med"/>
                    </a:lnR>
                    <a:lnB w="28575" cap="flat" cmpd="sng" algn="ctr">
                      <a:solidFill>
                        <a:srgbClr val="005698"/>
                      </a:solidFill>
                      <a:prstDash val="solid"/>
                      <a:round/>
                      <a:headEnd type="none" w="med" len="med"/>
                      <a:tailEnd type="none" w="med" len="med"/>
                    </a:lnB>
                  </a:tcPr>
                </a:tc>
                <a:extLst>
                  <a:ext uri="{0D108BD9-81ED-4DB2-BD59-A6C34878D82A}">
                    <a16:rowId xmlns:a16="http://schemas.microsoft.com/office/drawing/2014/main" val="2615131255"/>
                  </a:ext>
                </a:extLst>
              </a:tr>
            </a:tbl>
          </a:graphicData>
        </a:graphic>
      </p:graphicFrame>
      <p:sp>
        <p:nvSpPr>
          <p:cNvPr id="43" name="TextBox 42">
            <a:extLst>
              <a:ext uri="{FF2B5EF4-FFF2-40B4-BE49-F238E27FC236}">
                <a16:creationId xmlns:a16="http://schemas.microsoft.com/office/drawing/2014/main" id="{3D14D64E-B903-A786-8B55-4F9B5C7AEAD2}"/>
              </a:ext>
            </a:extLst>
          </p:cNvPr>
          <p:cNvSpPr txBox="1"/>
          <p:nvPr/>
        </p:nvSpPr>
        <p:spPr>
          <a:xfrm>
            <a:off x="353910" y="12260851"/>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Project Goals</a:t>
            </a:r>
            <a:endParaRPr sz="3600" dirty="0">
              <a:solidFill>
                <a:srgbClr val="F7E8C9"/>
              </a:solidFill>
            </a:endParaRPr>
          </a:p>
        </p:txBody>
      </p:sp>
      <p:pic>
        <p:nvPicPr>
          <p:cNvPr id="48" name="Picture 47" descr="A logo on a black background&#10;&#10;AI-generated content may be incorrect.">
            <a:extLst>
              <a:ext uri="{FF2B5EF4-FFF2-40B4-BE49-F238E27FC236}">
                <a16:creationId xmlns:a16="http://schemas.microsoft.com/office/drawing/2014/main" id="{BBE58E56-D255-E62C-7C7A-B569DFFC4772}"/>
              </a:ext>
            </a:extLst>
          </p:cNvPr>
          <p:cNvPicPr>
            <a:picLocks noChangeAspect="1"/>
          </p:cNvPicPr>
          <p:nvPr/>
        </p:nvPicPr>
        <p:blipFill>
          <a:blip r:embed="rId17"/>
          <a:stretch>
            <a:fillRect/>
          </a:stretch>
        </p:blipFill>
        <p:spPr>
          <a:xfrm>
            <a:off x="-371428" y="16878285"/>
            <a:ext cx="4636241" cy="2915875"/>
          </a:xfrm>
          <a:prstGeom prst="rect">
            <a:avLst/>
          </a:prstGeom>
        </p:spPr>
      </p:pic>
      <p:pic>
        <p:nvPicPr>
          <p:cNvPr id="56" name="Picture 55" descr="A close-up of a logo&#10;&#10;AI-generated content may be incorrect.">
            <a:extLst>
              <a:ext uri="{FF2B5EF4-FFF2-40B4-BE49-F238E27FC236}">
                <a16:creationId xmlns:a16="http://schemas.microsoft.com/office/drawing/2014/main" id="{BD56C4D4-304B-454C-1407-E5B5F84ABB6F}"/>
              </a:ext>
            </a:extLst>
          </p:cNvPr>
          <p:cNvPicPr>
            <a:picLocks noChangeAspect="1"/>
          </p:cNvPicPr>
          <p:nvPr/>
        </p:nvPicPr>
        <p:blipFill>
          <a:blip r:embed="rId18"/>
          <a:stretch>
            <a:fillRect/>
          </a:stretch>
        </p:blipFill>
        <p:spPr>
          <a:xfrm>
            <a:off x="3999986" y="17633152"/>
            <a:ext cx="4339054" cy="1224861"/>
          </a:xfrm>
          <a:prstGeom prst="rect">
            <a:avLst/>
          </a:prstGeom>
        </p:spPr>
      </p:pic>
      <p:sp>
        <p:nvSpPr>
          <p:cNvPr id="57" name="TextBox 56">
            <a:extLst>
              <a:ext uri="{FF2B5EF4-FFF2-40B4-BE49-F238E27FC236}">
                <a16:creationId xmlns:a16="http://schemas.microsoft.com/office/drawing/2014/main" id="{0F42BEC2-750C-20BE-616F-218A766CAECF}"/>
              </a:ext>
            </a:extLst>
          </p:cNvPr>
          <p:cNvSpPr txBox="1"/>
          <p:nvPr/>
        </p:nvSpPr>
        <p:spPr>
          <a:xfrm>
            <a:off x="8488565" y="2282711"/>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Current Syllabus Snippet	</a:t>
            </a:r>
            <a:endParaRPr sz="3600" dirty="0">
              <a:solidFill>
                <a:srgbClr val="F7E8C9"/>
              </a:solidFill>
            </a:endParaRPr>
          </a:p>
        </p:txBody>
      </p:sp>
      <p:sp>
        <p:nvSpPr>
          <p:cNvPr id="59" name="TextBox 58">
            <a:extLst>
              <a:ext uri="{FF2B5EF4-FFF2-40B4-BE49-F238E27FC236}">
                <a16:creationId xmlns:a16="http://schemas.microsoft.com/office/drawing/2014/main" id="{3E857717-4171-FCA1-9ED4-DE2614EE4041}"/>
              </a:ext>
            </a:extLst>
          </p:cNvPr>
          <p:cNvSpPr txBox="1"/>
          <p:nvPr/>
        </p:nvSpPr>
        <p:spPr>
          <a:xfrm>
            <a:off x="16686210" y="2237502"/>
            <a:ext cx="15935261"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Mentor Suggestions/Resources</a:t>
            </a:r>
          </a:p>
        </p:txBody>
      </p:sp>
      <p:sp>
        <p:nvSpPr>
          <p:cNvPr id="60" name="TextBox 59">
            <a:extLst>
              <a:ext uri="{FF2B5EF4-FFF2-40B4-BE49-F238E27FC236}">
                <a16:creationId xmlns:a16="http://schemas.microsoft.com/office/drawing/2014/main" id="{6349692D-CA76-3EF8-8BCF-A9CC4738D28A}"/>
              </a:ext>
            </a:extLst>
          </p:cNvPr>
          <p:cNvSpPr txBox="1"/>
          <p:nvPr/>
        </p:nvSpPr>
        <p:spPr>
          <a:xfrm>
            <a:off x="8582195" y="13660110"/>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References</a:t>
            </a:r>
            <a:endParaRPr sz="3600" dirty="0">
              <a:solidFill>
                <a:srgbClr val="F7E8C9"/>
              </a:solidFill>
            </a:endParaRPr>
          </a:p>
        </p:txBody>
      </p:sp>
      <p:sp>
        <p:nvSpPr>
          <p:cNvPr id="61" name="TextBox 60">
            <a:extLst>
              <a:ext uri="{FF2B5EF4-FFF2-40B4-BE49-F238E27FC236}">
                <a16:creationId xmlns:a16="http://schemas.microsoft.com/office/drawing/2014/main" id="{AA1F57B0-C3FC-8287-A710-6C5754D2A84A}"/>
              </a:ext>
            </a:extLst>
          </p:cNvPr>
          <p:cNvSpPr txBox="1"/>
          <p:nvPr/>
        </p:nvSpPr>
        <p:spPr>
          <a:xfrm>
            <a:off x="16686209" y="12796068"/>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Course-Level Expansions</a:t>
            </a:r>
            <a:endParaRPr sz="3600" dirty="0">
              <a:solidFill>
                <a:srgbClr val="F7E8C9"/>
              </a:solidFill>
            </a:endParaRPr>
          </a:p>
        </p:txBody>
      </p:sp>
      <p:sp>
        <p:nvSpPr>
          <p:cNvPr id="65" name="Google Shape;88;p1">
            <a:extLst>
              <a:ext uri="{FF2B5EF4-FFF2-40B4-BE49-F238E27FC236}">
                <a16:creationId xmlns:a16="http://schemas.microsoft.com/office/drawing/2014/main" id="{04BF81AB-0A99-845B-D014-5D57A3686C32}"/>
              </a:ext>
            </a:extLst>
          </p:cNvPr>
          <p:cNvSpPr txBox="1"/>
          <p:nvPr/>
        </p:nvSpPr>
        <p:spPr>
          <a:xfrm>
            <a:off x="16686209" y="3270791"/>
            <a:ext cx="7876622" cy="2308284"/>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Consider Incorporating threads</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Consider evaluating modules and textbooks for the course</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Consider incorporating real-world examples to motivate HPC</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Consider adding gateways that can be useful for teaching Java</a:t>
            </a:r>
          </a:p>
        </p:txBody>
      </p:sp>
      <p:pic>
        <p:nvPicPr>
          <p:cNvPr id="69" name="Picture 68" descr="A blue rectangle with white text&#10;&#10;AI-generated content may be incorrect.">
            <a:extLst>
              <a:ext uri="{FF2B5EF4-FFF2-40B4-BE49-F238E27FC236}">
                <a16:creationId xmlns:a16="http://schemas.microsoft.com/office/drawing/2014/main" id="{5AEB9E4A-4AD7-C9FB-31B2-C5F21C943F7B}"/>
              </a:ext>
            </a:extLst>
          </p:cNvPr>
          <p:cNvPicPr>
            <a:picLocks noChangeAspect="1"/>
          </p:cNvPicPr>
          <p:nvPr/>
        </p:nvPicPr>
        <p:blipFill>
          <a:blip r:embed="rId19"/>
          <a:stretch>
            <a:fillRect/>
          </a:stretch>
        </p:blipFill>
        <p:spPr>
          <a:xfrm>
            <a:off x="-325819" y="19025946"/>
            <a:ext cx="9014119" cy="3832775"/>
          </a:xfrm>
          <a:prstGeom prst="rect">
            <a:avLst/>
          </a:prstGeom>
        </p:spPr>
      </p:pic>
      <p:sp>
        <p:nvSpPr>
          <p:cNvPr id="70" name="Google Shape;88;p1">
            <a:extLst>
              <a:ext uri="{FF2B5EF4-FFF2-40B4-BE49-F238E27FC236}">
                <a16:creationId xmlns:a16="http://schemas.microsoft.com/office/drawing/2014/main" id="{EE4A4EBD-9920-98A7-DF3E-15EE8A54AC58}"/>
              </a:ext>
            </a:extLst>
          </p:cNvPr>
          <p:cNvSpPr txBox="1"/>
          <p:nvPr/>
        </p:nvSpPr>
        <p:spPr>
          <a:xfrm>
            <a:off x="8697420" y="14603878"/>
            <a:ext cx="7876622" cy="6370934"/>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Textbooks:</a:t>
            </a:r>
            <a:br>
              <a:rPr lang="en-US" sz="2400" b="1"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Savitch, W. J. Java: An Introduction to Problem Solving and Programming. 10th ed., Pearson, 2022.Goetz, B. Java Concurrency in Practice. Addison-Wesley, 2006.Herlihy, M., &amp; Shavit, N. The Art of Multiprocessor Programming. Morgan Kaufmann, 2020.</a:t>
            </a:r>
          </a:p>
          <a:p>
            <a:br>
              <a:rPr lang="en-US" sz="2400" b="1" dirty="0">
                <a:latin typeface="Calibri" panose="020F0502020204030204" pitchFamily="34" charset="0"/>
                <a:ea typeface="Calibri" panose="020F0502020204030204" pitchFamily="34" charset="0"/>
                <a:cs typeface="Calibri" panose="020F0502020204030204" pitchFamily="34" charset="0"/>
              </a:rPr>
            </a:br>
            <a:r>
              <a:rPr lang="en-US" sz="2400" b="1" dirty="0">
                <a:latin typeface="Calibri" panose="020F0502020204030204" pitchFamily="34" charset="0"/>
                <a:ea typeface="Calibri" panose="020F0502020204030204" pitchFamily="34" charset="0"/>
                <a:cs typeface="Calibri" panose="020F0502020204030204" pitchFamily="34" charset="0"/>
              </a:rPr>
              <a:t>HPC &amp; Science Gateways Resources: </a:t>
            </a:r>
          </a:p>
          <a:p>
            <a:r>
              <a:rPr lang="en-US" sz="2400" dirty="0">
                <a:latin typeface="Calibri" panose="020F0502020204030204" pitchFamily="34" charset="0"/>
                <a:ea typeface="Calibri" panose="020F0502020204030204" pitchFamily="34" charset="0"/>
                <a:cs typeface="Calibri" panose="020F0502020204030204" pitchFamily="34" charset="0"/>
              </a:rPr>
              <a:t>Cornell Virtual Workshop (CVW): Roadmaps for Parallel Programming &amp; </a:t>
            </a:r>
            <a:r>
              <a:rPr lang="en-US" sz="2400" dirty="0" err="1">
                <a:latin typeface="Calibri" panose="020F0502020204030204" pitchFamily="34" charset="0"/>
                <a:ea typeface="Calibri" panose="020F0502020204030204" pitchFamily="34" charset="0"/>
                <a:cs typeface="Calibri" panose="020F0502020204030204" pitchFamily="34" charset="0"/>
              </a:rPr>
              <a:t>Supercomputing.Cornell</a:t>
            </a:r>
            <a:r>
              <a:rPr lang="en-US" sz="2400" dirty="0">
                <a:latin typeface="Calibri" panose="020F0502020204030204" pitchFamily="34" charset="0"/>
                <a:ea typeface="Calibri" panose="020F0502020204030204" pitchFamily="34" charset="0"/>
                <a:cs typeface="Calibri" panose="020F0502020204030204" pitchFamily="34" charset="0"/>
              </a:rPr>
              <a:t> Center for Advanced Computing. </a:t>
            </a:r>
            <a:r>
              <a:rPr lang="en-US" sz="2400" dirty="0">
                <a:latin typeface="Calibri" panose="020F0502020204030204" pitchFamily="34" charset="0"/>
                <a:ea typeface="Calibri" panose="020F0502020204030204" pitchFamily="34" charset="0"/>
                <a:cs typeface="Calibri" panose="020F0502020204030204" pitchFamily="34" charset="0"/>
                <a:hlinkClick r:id="rId20"/>
              </a:rPr>
              <a:t>https://cvw.cac.cornell.edu</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HPC Carpentry: Introduction to High-Performance Computing </a:t>
            </a:r>
            <a:r>
              <a:rPr lang="en-US" sz="2400" dirty="0" err="1">
                <a:latin typeface="Calibri" panose="020F0502020204030204" pitchFamily="34" charset="0"/>
                <a:ea typeface="Calibri" panose="020F0502020204030204" pitchFamily="34" charset="0"/>
                <a:cs typeface="Calibri" panose="020F0502020204030204" pitchFamily="34" charset="0"/>
              </a:rPr>
              <a:t>Modules.https</a:t>
            </a:r>
            <a:r>
              <a:rPr lang="en-US" sz="2400" dirty="0">
                <a:latin typeface="Calibri" panose="020F0502020204030204" pitchFamily="34" charset="0"/>
                <a:ea typeface="Calibri" panose="020F0502020204030204" pitchFamily="34" charset="0"/>
                <a:cs typeface="Calibri" panose="020F0502020204030204" pitchFamily="34" charset="0"/>
              </a:rPr>
              <a:t>://hpc-carpentry.org</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Jetstream2 / ACCESS Cloud Computing </a:t>
            </a:r>
            <a:r>
              <a:rPr lang="en-US" sz="2400" dirty="0" err="1">
                <a:latin typeface="Calibri" panose="020F0502020204030204" pitchFamily="34" charset="0"/>
                <a:ea typeface="Calibri" panose="020F0502020204030204" pitchFamily="34" charset="0"/>
                <a:cs typeface="Calibri" panose="020F0502020204030204" pitchFamily="34" charset="0"/>
              </a:rPr>
              <a:t>Resource.Indiana</a:t>
            </a:r>
            <a:r>
              <a:rPr lang="en-US" sz="2400" dirty="0">
                <a:latin typeface="Calibri" panose="020F0502020204030204" pitchFamily="34" charset="0"/>
                <a:ea typeface="Calibri" panose="020F0502020204030204" pitchFamily="34" charset="0"/>
                <a:cs typeface="Calibri" panose="020F0502020204030204" pitchFamily="34" charset="0"/>
              </a:rPr>
              <a:t> University, 2023. </a:t>
            </a:r>
            <a:r>
              <a:rPr lang="en-US" sz="2400" dirty="0">
                <a:latin typeface="Calibri" panose="020F0502020204030204" pitchFamily="34" charset="0"/>
                <a:ea typeface="Calibri" panose="020F0502020204030204" pitchFamily="34" charset="0"/>
                <a:cs typeface="Calibri" panose="020F0502020204030204" pitchFamily="34" charset="0"/>
                <a:hlinkClick r:id="rId21"/>
              </a:rPr>
              <a:t>https://jetstream-cloud.org</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Science Gateways Community Institute (SGX3).https://sciencegateways.org</a:t>
            </a:r>
          </a:p>
        </p:txBody>
      </p:sp>
      <p:sp>
        <p:nvSpPr>
          <p:cNvPr id="71" name="TextBox 70">
            <a:extLst>
              <a:ext uri="{FF2B5EF4-FFF2-40B4-BE49-F238E27FC236}">
                <a16:creationId xmlns:a16="http://schemas.microsoft.com/office/drawing/2014/main" id="{DD0652DE-6AF5-6DE4-720C-FA411BD35272}"/>
              </a:ext>
            </a:extLst>
          </p:cNvPr>
          <p:cNvSpPr txBox="1"/>
          <p:nvPr/>
        </p:nvSpPr>
        <p:spPr>
          <a:xfrm>
            <a:off x="16686210" y="16958027"/>
            <a:ext cx="7876622"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Student-Level Expansions</a:t>
            </a:r>
            <a:endParaRPr sz="3600" dirty="0">
              <a:solidFill>
                <a:srgbClr val="F7E8C9"/>
              </a:solidFill>
            </a:endParaRPr>
          </a:p>
        </p:txBody>
      </p:sp>
      <p:sp>
        <p:nvSpPr>
          <p:cNvPr id="2" name="Google Shape;101;p1">
            <a:extLst>
              <a:ext uri="{FF2B5EF4-FFF2-40B4-BE49-F238E27FC236}">
                <a16:creationId xmlns:a16="http://schemas.microsoft.com/office/drawing/2014/main" id="{BBE141EE-4267-464E-9E7E-1A7BE41FDFBD}"/>
              </a:ext>
            </a:extLst>
          </p:cNvPr>
          <p:cNvSpPr txBox="1"/>
          <p:nvPr/>
        </p:nvSpPr>
        <p:spPr>
          <a:xfrm>
            <a:off x="20118122" y="17653015"/>
            <a:ext cx="4775762" cy="341627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i="0" u="none" strike="noStrike" cap="none" dirty="0">
                <a:solidFill>
                  <a:srgbClr val="000000"/>
                </a:solidFill>
                <a:latin typeface="Open Sans"/>
                <a:ea typeface="Open Sans"/>
                <a:cs typeface="Open Sans"/>
                <a:sym typeface="Open Sans"/>
              </a:rPr>
              <a:t>Undergraduate Research</a:t>
            </a:r>
            <a:r>
              <a:rPr lang="en-US" sz="2400" b="0" i="0" u="none" strike="noStrike" cap="none" dirty="0">
                <a:solidFill>
                  <a:srgbClr val="000000"/>
                </a:solidFill>
                <a:latin typeface="Open Sans"/>
                <a:ea typeface="Open Sans"/>
                <a:cs typeface="Open Sans"/>
                <a:sym typeface="Open Sans"/>
              </a:rPr>
              <a:t>: Connect </a:t>
            </a:r>
            <a:r>
              <a:rPr lang="en-US" sz="2400" dirty="0">
                <a:latin typeface="Open Sans"/>
                <a:ea typeface="Open Sans"/>
                <a:cs typeface="Open Sans"/>
                <a:sym typeface="Open Sans"/>
              </a:rPr>
              <a:t>interested students to Science Gateways Research Projects.</a:t>
            </a:r>
            <a:br>
              <a:rPr lang="en-US" sz="2400" dirty="0">
                <a:latin typeface="Open Sans"/>
                <a:ea typeface="Open Sans"/>
                <a:cs typeface="Open Sans"/>
                <a:sym typeface="Open Sans"/>
              </a:rPr>
            </a:br>
            <a:endParaRPr lang="en-US" sz="2400" dirty="0">
              <a:latin typeface="Open Sans"/>
              <a:ea typeface="Open Sans"/>
              <a:cs typeface="Open Sans"/>
              <a:sym typeface="Open Sans"/>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1" i="0" u="none" strike="noStrike" cap="none" dirty="0">
                <a:solidFill>
                  <a:srgbClr val="000000"/>
                </a:solidFill>
                <a:latin typeface="Open Sans"/>
                <a:ea typeface="Open Sans"/>
                <a:cs typeface="Open Sans"/>
                <a:sym typeface="Open Sans"/>
              </a:rPr>
              <a:t>AI/HPC Portfolio</a:t>
            </a:r>
            <a:r>
              <a:rPr lang="en-US" sz="2400" b="0" i="0" u="none" strike="noStrike" cap="none" dirty="0">
                <a:solidFill>
                  <a:srgbClr val="000000"/>
                </a:solidFill>
                <a:latin typeface="Open Sans"/>
                <a:ea typeface="Open Sans"/>
                <a:cs typeface="Open Sans"/>
                <a:sym typeface="Open Sans"/>
              </a:rPr>
              <a:t>: Have students maintain a GitHub documenting AI-assisted code and reflections.</a:t>
            </a:r>
            <a:endParaRPr sz="1400" b="0" i="0" u="none" strike="noStrike" cap="none" dirty="0">
              <a:solidFill>
                <a:srgbClr val="000000"/>
              </a:solidFill>
              <a:latin typeface="Arial"/>
              <a:ea typeface="Arial"/>
              <a:cs typeface="Arial"/>
              <a:sym typeface="Arial"/>
            </a:endParaRPr>
          </a:p>
        </p:txBody>
      </p:sp>
      <p:pic>
        <p:nvPicPr>
          <p:cNvPr id="10" name="Picture 9" descr="A red and orange badge with a check mark&#10;&#10;AI-generated content may be incorrect.">
            <a:extLst>
              <a:ext uri="{FF2B5EF4-FFF2-40B4-BE49-F238E27FC236}">
                <a16:creationId xmlns:a16="http://schemas.microsoft.com/office/drawing/2014/main" id="{830EF6E5-FDAC-B62D-B64D-E792F85E3414}"/>
              </a:ext>
            </a:extLst>
          </p:cNvPr>
          <p:cNvPicPr>
            <a:picLocks noChangeAspect="1"/>
          </p:cNvPicPr>
          <p:nvPr/>
        </p:nvPicPr>
        <p:blipFill>
          <a:blip r:embed="rId22"/>
          <a:stretch>
            <a:fillRect/>
          </a:stretch>
        </p:blipFill>
        <p:spPr>
          <a:xfrm>
            <a:off x="22033461" y="11771777"/>
            <a:ext cx="4570424" cy="3046949"/>
          </a:xfrm>
          <a:prstGeom prst="rect">
            <a:avLst/>
          </a:prstGeom>
        </p:spPr>
      </p:pic>
      <p:pic>
        <p:nvPicPr>
          <p:cNvPr id="7" name="Picture 6" descr="A paper with text on it&#10;&#10;AI-generated content may be incorrect.">
            <a:extLst>
              <a:ext uri="{FF2B5EF4-FFF2-40B4-BE49-F238E27FC236}">
                <a16:creationId xmlns:a16="http://schemas.microsoft.com/office/drawing/2014/main" id="{C929BF73-0151-DAEC-9458-902BC54196A8}"/>
              </a:ext>
            </a:extLst>
          </p:cNvPr>
          <p:cNvPicPr>
            <a:picLocks noChangeAspect="1"/>
          </p:cNvPicPr>
          <p:nvPr/>
        </p:nvPicPr>
        <p:blipFill>
          <a:blip r:embed="rId23"/>
          <a:stretch>
            <a:fillRect/>
          </a:stretch>
        </p:blipFill>
        <p:spPr>
          <a:xfrm>
            <a:off x="8520059" y="3118006"/>
            <a:ext cx="8183441" cy="10285986"/>
          </a:xfrm>
          <a:prstGeom prst="rect">
            <a:avLst/>
          </a:prstGeom>
        </p:spPr>
      </p:pic>
      <p:sp>
        <p:nvSpPr>
          <p:cNvPr id="3" name="TextBox 2">
            <a:extLst>
              <a:ext uri="{FF2B5EF4-FFF2-40B4-BE49-F238E27FC236}">
                <a16:creationId xmlns:a16="http://schemas.microsoft.com/office/drawing/2014/main" id="{AB435150-82F4-3539-F832-69E55101877A}"/>
              </a:ext>
            </a:extLst>
          </p:cNvPr>
          <p:cNvSpPr txBox="1"/>
          <p:nvPr/>
        </p:nvSpPr>
        <p:spPr>
          <a:xfrm>
            <a:off x="16686209" y="5835688"/>
            <a:ext cx="15935261" cy="646331"/>
          </a:xfrm>
          <a:prstGeom prst="rect">
            <a:avLst/>
          </a:prstGeom>
          <a:solidFill>
            <a:srgbClr val="005698"/>
          </a:solidFill>
        </p:spPr>
        <p:txBody>
          <a:bodyPr wrap="square" lIns="457200" anchor="ctr">
            <a:spAutoFit/>
          </a:bodyPr>
          <a:lstStyle/>
          <a:p>
            <a:pPr>
              <a:defRPr sz="3600" b="1">
                <a:solidFill>
                  <a:srgbClr val="004C99"/>
                </a:solidFill>
              </a:defRPr>
            </a:pPr>
            <a:r>
              <a:rPr lang="en-US" sz="3600" dirty="0">
                <a:solidFill>
                  <a:srgbClr val="F7E8C9"/>
                </a:solidFill>
              </a:rPr>
              <a:t>Revised Syllabus Snippets</a:t>
            </a:r>
            <a:endParaRPr sz="3600" dirty="0">
              <a:solidFill>
                <a:srgbClr val="F7E8C9"/>
              </a:solidFill>
            </a:endParaRPr>
          </a:p>
        </p:txBody>
      </p:sp>
      <p:sp>
        <p:nvSpPr>
          <p:cNvPr id="8" name="Google Shape;88;p1">
            <a:extLst>
              <a:ext uri="{FF2B5EF4-FFF2-40B4-BE49-F238E27FC236}">
                <a16:creationId xmlns:a16="http://schemas.microsoft.com/office/drawing/2014/main" id="{093FE673-DE0E-C88B-728C-181C7739898F}"/>
              </a:ext>
            </a:extLst>
          </p:cNvPr>
          <p:cNvSpPr txBox="1"/>
          <p:nvPr/>
        </p:nvSpPr>
        <p:spPr>
          <a:xfrm>
            <a:off x="16686209" y="6757545"/>
            <a:ext cx="7876622" cy="3416279"/>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Course Description Addition</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a:effectLst/>
                <a:highlight>
                  <a:srgbClr val="FFFF00"/>
                </a:highlight>
                <a:latin typeface="Times New Roman" panose="02020603050405020304" pitchFamily="18" charset="0"/>
                <a:ea typeface="Calibri" panose="020F0502020204030204" pitchFamily="34" charset="0"/>
              </a:rPr>
              <a:t>In addition to programming fundamentals, students will gain early exposure to concepts of computational efficiency, scalability, and high-performance computing (HPC). Through hands-on labs and enrichment activities, students will explore how programs behave as input size increases, how parallelism can improve performance, and how supercomputing resources are applied to solve real-world problems</a:t>
            </a:r>
            <a:r>
              <a:rPr lang="en-US" sz="2400" dirty="0">
                <a:latin typeface="Calibri" panose="020F0502020204030204" pitchFamily="34" charset="0"/>
                <a:ea typeface="Calibri" panose="020F0502020204030204" pitchFamily="34" charset="0"/>
                <a:cs typeface="Calibri" panose="020F0502020204030204" pitchFamily="34" charset="0"/>
              </a:rPr>
              <a:t> </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2" name="Google Shape;88;p1">
            <a:extLst>
              <a:ext uri="{FF2B5EF4-FFF2-40B4-BE49-F238E27FC236}">
                <a16:creationId xmlns:a16="http://schemas.microsoft.com/office/drawing/2014/main" id="{71D9E901-589F-8F12-FA82-56479E6A4D8C}"/>
              </a:ext>
            </a:extLst>
          </p:cNvPr>
          <p:cNvSpPr txBox="1"/>
          <p:nvPr/>
        </p:nvSpPr>
        <p:spPr>
          <a:xfrm>
            <a:off x="24744848" y="6697762"/>
            <a:ext cx="7876622" cy="2308284"/>
          </a:xfrm>
          <a:prstGeom prst="rect">
            <a:avLst/>
          </a:prstGeom>
          <a:noFill/>
          <a:ln>
            <a:noFill/>
          </a:ln>
        </p:spPr>
        <p:txBody>
          <a:bodyPr spcFirstLastPara="1" wrap="square" lIns="91425" tIns="45700" rIns="91425" bIns="45700" anchor="t" anchorCtr="0">
            <a:spAutoFit/>
          </a:bodyPr>
          <a:lstStyle/>
          <a:p>
            <a:pPr lvl="0"/>
            <a:r>
              <a:rPr lang="en-US" sz="2400" b="1" dirty="0">
                <a:latin typeface="Calibri" panose="020F0502020204030204" pitchFamily="34" charset="0"/>
                <a:ea typeface="Calibri" panose="020F0502020204030204" pitchFamily="34" charset="0"/>
                <a:cs typeface="Calibri" panose="020F0502020204030204" pitchFamily="34" charset="0"/>
              </a:rPr>
              <a:t>Course Objectives</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US" sz="2400" dirty="0">
                <a:highlight>
                  <a:srgbClr val="FFFF00"/>
                </a:highlight>
                <a:latin typeface="Times New Roman" panose="02020603050405020304" pitchFamily="18" charset="0"/>
                <a:cs typeface="Times New Roman" panose="02020603050405020304" pitchFamily="18" charset="0"/>
              </a:rPr>
              <a:t>Recognize how computational problems scale with input size and system resources.</a:t>
            </a:r>
          </a:p>
          <a:p>
            <a:pPr marL="342900" lvl="0" indent="-342900">
              <a:buFont typeface="Arial" panose="020B0604020202020204" pitchFamily="34" charset="0"/>
              <a:buChar char="•"/>
            </a:pPr>
            <a:r>
              <a:rPr lang="en-US" sz="2400" dirty="0">
                <a:highlight>
                  <a:srgbClr val="FFFF00"/>
                </a:highlight>
                <a:latin typeface="Times New Roman" panose="02020603050405020304" pitchFamily="18" charset="0"/>
                <a:cs typeface="Times New Roman" panose="02020603050405020304" pitchFamily="18" charset="0"/>
              </a:rPr>
              <a:t>Demonstrate introductory knowledge of HPC concepts, including parallel execution and supercomputing applications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Google Shape;88;p1">
            <a:extLst>
              <a:ext uri="{FF2B5EF4-FFF2-40B4-BE49-F238E27FC236}">
                <a16:creationId xmlns:a16="http://schemas.microsoft.com/office/drawing/2014/main" id="{111D4A49-5EFE-0A24-6D1E-DF031D812B5B}"/>
              </a:ext>
            </a:extLst>
          </p:cNvPr>
          <p:cNvSpPr txBox="1"/>
          <p:nvPr/>
        </p:nvSpPr>
        <p:spPr>
          <a:xfrm>
            <a:off x="16579705" y="10096695"/>
            <a:ext cx="7876622" cy="2308284"/>
          </a:xfrm>
          <a:prstGeom prst="rect">
            <a:avLst/>
          </a:prstGeom>
          <a:noFill/>
          <a:ln>
            <a:noFill/>
          </a:ln>
        </p:spPr>
        <p:txBody>
          <a:bodyPr spcFirstLastPara="1" wrap="square" lIns="91425" tIns="45700" rIns="91425" bIns="45700" anchor="t" anchorCtr="0">
            <a:spAutoFit/>
          </a:bodyPr>
          <a:lstStyle/>
          <a:p>
            <a:pPr lvl="0"/>
            <a:r>
              <a:rPr lang="en-US" sz="2400" b="1" dirty="0">
                <a:latin typeface="Calibri" panose="020F0502020204030204" pitchFamily="34" charset="0"/>
                <a:ea typeface="Calibri" panose="020F0502020204030204" pitchFamily="34" charset="0"/>
                <a:cs typeface="Calibri" panose="020F0502020204030204" pitchFamily="34" charset="0"/>
              </a:rPr>
              <a:t>SLOs Addition</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marR="659130" lvl="0" indent="-342900">
              <a:lnSpc>
                <a:spcPct val="100000"/>
              </a:lnSpc>
              <a:buSzPts val="1200"/>
              <a:buFont typeface="Symbol" panose="05050102010706020507" pitchFamily="18" charset="2"/>
              <a:buChar char=""/>
              <a:tabLst>
                <a:tab pos="457835" algn="l"/>
              </a:tabLst>
            </a:pPr>
            <a:r>
              <a:rPr lang="en-US" sz="2400" spc="0" dirty="0">
                <a:effectLst/>
                <a:highlight>
                  <a:srgbClr val="FFFF00"/>
                </a:highlight>
                <a:latin typeface="Times New Roman" panose="02020603050405020304" pitchFamily="18" charset="0"/>
                <a:ea typeface="Symbol" panose="05050102010706020507" pitchFamily="18" charset="2"/>
                <a:cs typeface="Symbol" panose="05050102010706020507" pitchFamily="18" charset="2"/>
              </a:rPr>
              <a:t>Explain the difference between sequential and parallel execution in a computing context.</a:t>
            </a:r>
            <a:endParaRPr lang="en-US" sz="2000" spc="0" dirty="0">
              <a:effectLst/>
              <a:latin typeface="Calibri" panose="020F0502020204030204" pitchFamily="34" charset="0"/>
              <a:ea typeface="Symbol" panose="05050102010706020507" pitchFamily="18" charset="2"/>
              <a:cs typeface="Symbol" panose="05050102010706020507" pitchFamily="18" charset="2"/>
            </a:endParaRPr>
          </a:p>
          <a:p>
            <a:pPr marL="342900" marR="659130" lvl="0" indent="-342900">
              <a:lnSpc>
                <a:spcPct val="100000"/>
              </a:lnSpc>
              <a:buSzPts val="1200"/>
              <a:buFont typeface="Symbol" panose="05050102010706020507" pitchFamily="18" charset="2"/>
              <a:buChar char=""/>
              <a:tabLst>
                <a:tab pos="457835" algn="l"/>
              </a:tabLst>
            </a:pPr>
            <a:r>
              <a:rPr lang="en-US" sz="2400" spc="0" dirty="0">
                <a:effectLst/>
                <a:highlight>
                  <a:srgbClr val="FFFF00"/>
                </a:highlight>
                <a:latin typeface="Times New Roman" panose="02020603050405020304" pitchFamily="18" charset="0"/>
                <a:ea typeface="Symbol" panose="05050102010706020507" pitchFamily="18" charset="2"/>
                <a:cs typeface="Symbol" panose="05050102010706020507" pitchFamily="18" charset="2"/>
              </a:rPr>
              <a:t>Identify real-world applications of supercomputing and how programming fundamentals contribute to solving large-scale problems.</a:t>
            </a:r>
            <a:endParaRPr lang="en-US" sz="2000" spc="0" dirty="0">
              <a:effectLst/>
              <a:latin typeface="Calibri" panose="020F0502020204030204" pitchFamily="34" charset="0"/>
              <a:ea typeface="Symbol" panose="05050102010706020507" pitchFamily="18" charset="2"/>
              <a:cs typeface="Symbol" panose="05050102010706020507" pitchFamily="18" charset="2"/>
            </a:endParaRPr>
          </a:p>
        </p:txBody>
      </p:sp>
      <p:sp>
        <p:nvSpPr>
          <p:cNvPr id="17" name="Google Shape;88;p1">
            <a:extLst>
              <a:ext uri="{FF2B5EF4-FFF2-40B4-BE49-F238E27FC236}">
                <a16:creationId xmlns:a16="http://schemas.microsoft.com/office/drawing/2014/main" id="{21CADDA4-B885-7EBE-B10A-3D6B4F828777}"/>
              </a:ext>
            </a:extLst>
          </p:cNvPr>
          <p:cNvSpPr txBox="1"/>
          <p:nvPr/>
        </p:nvSpPr>
        <p:spPr>
          <a:xfrm>
            <a:off x="26794339" y="9032698"/>
            <a:ext cx="3085893" cy="461624"/>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Grading Weights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descr="A screen shot of a number of percentages&#10;&#10;AI-generated content may be incorrect.">
            <a:extLst>
              <a:ext uri="{FF2B5EF4-FFF2-40B4-BE49-F238E27FC236}">
                <a16:creationId xmlns:a16="http://schemas.microsoft.com/office/drawing/2014/main" id="{B93D0040-2097-6A68-07A9-E449259DAEA4}"/>
              </a:ext>
            </a:extLst>
          </p:cNvPr>
          <p:cNvPicPr>
            <a:picLocks noChangeAspect="1"/>
          </p:cNvPicPr>
          <p:nvPr/>
        </p:nvPicPr>
        <p:blipFill>
          <a:blip r:embed="rId24"/>
          <a:stretch>
            <a:fillRect/>
          </a:stretch>
        </p:blipFill>
        <p:spPr>
          <a:xfrm>
            <a:off x="24105572" y="9454493"/>
            <a:ext cx="7225665" cy="2341157"/>
          </a:xfrm>
          <a:prstGeom prst="rect">
            <a:avLst/>
          </a:prstGeom>
        </p:spPr>
      </p:pic>
      <p:pic>
        <p:nvPicPr>
          <p:cNvPr id="32" name="Picture 31" descr="A table with text on it&#10;&#10;AI-generated content may be incorrect.">
            <a:extLst>
              <a:ext uri="{FF2B5EF4-FFF2-40B4-BE49-F238E27FC236}">
                <a16:creationId xmlns:a16="http://schemas.microsoft.com/office/drawing/2014/main" id="{1066C3AB-5D76-6F56-D432-E23959DE8DBF}"/>
              </a:ext>
            </a:extLst>
          </p:cNvPr>
          <p:cNvPicPr>
            <a:picLocks noChangeAspect="1"/>
          </p:cNvPicPr>
          <p:nvPr/>
        </p:nvPicPr>
        <p:blipFill>
          <a:blip r:embed="rId25"/>
          <a:stretch>
            <a:fillRect/>
          </a:stretch>
        </p:blipFill>
        <p:spPr>
          <a:xfrm>
            <a:off x="28178560" y="9351046"/>
            <a:ext cx="4193279" cy="2540553"/>
          </a:xfrm>
          <a:prstGeom prst="rect">
            <a:avLst/>
          </a:prstGeom>
        </p:spPr>
      </p:pic>
      <p:sp>
        <p:nvSpPr>
          <p:cNvPr id="33" name="Google Shape;88;p1">
            <a:extLst>
              <a:ext uri="{FF2B5EF4-FFF2-40B4-BE49-F238E27FC236}">
                <a16:creationId xmlns:a16="http://schemas.microsoft.com/office/drawing/2014/main" id="{C0740D1D-C70F-7D7A-7D46-39FACF15F805}"/>
              </a:ext>
            </a:extLst>
          </p:cNvPr>
          <p:cNvSpPr txBox="1"/>
          <p:nvPr/>
        </p:nvSpPr>
        <p:spPr>
          <a:xfrm>
            <a:off x="24688261" y="11601679"/>
            <a:ext cx="3026430" cy="461624"/>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Current Grading Scale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4" name="Google Shape;88;p1">
            <a:extLst>
              <a:ext uri="{FF2B5EF4-FFF2-40B4-BE49-F238E27FC236}">
                <a16:creationId xmlns:a16="http://schemas.microsoft.com/office/drawing/2014/main" id="{F517E0F2-2AFB-C8B5-616A-2701665A6139}"/>
              </a:ext>
            </a:extLst>
          </p:cNvPr>
          <p:cNvSpPr txBox="1"/>
          <p:nvPr/>
        </p:nvSpPr>
        <p:spPr>
          <a:xfrm>
            <a:off x="28847333" y="11666090"/>
            <a:ext cx="3026430" cy="461624"/>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Revised Grading Scale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7" name="Arrow: Right 36">
            <a:extLst>
              <a:ext uri="{FF2B5EF4-FFF2-40B4-BE49-F238E27FC236}">
                <a16:creationId xmlns:a16="http://schemas.microsoft.com/office/drawing/2014/main" id="{88A6FEDE-E0FF-9AE7-F77B-6A1FEDD46F9A}"/>
              </a:ext>
            </a:extLst>
          </p:cNvPr>
          <p:cNvSpPr/>
          <p:nvPr/>
        </p:nvSpPr>
        <p:spPr>
          <a:xfrm>
            <a:off x="27827240" y="10509572"/>
            <a:ext cx="1020093" cy="4002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oogle Shape;88;p1">
            <a:extLst>
              <a:ext uri="{FF2B5EF4-FFF2-40B4-BE49-F238E27FC236}">
                <a16:creationId xmlns:a16="http://schemas.microsoft.com/office/drawing/2014/main" id="{EA81D1EC-15B2-768F-95DF-451A26E908C7}"/>
              </a:ext>
            </a:extLst>
          </p:cNvPr>
          <p:cNvSpPr txBox="1"/>
          <p:nvPr/>
        </p:nvSpPr>
        <p:spPr>
          <a:xfrm>
            <a:off x="24562831" y="3131657"/>
            <a:ext cx="7876622" cy="2677616"/>
          </a:xfrm>
          <a:prstGeom prst="rect">
            <a:avLst/>
          </a:prstGeom>
          <a:noFill/>
          <a:ln>
            <a:noFill/>
          </a:ln>
        </p:spPr>
        <p:txBody>
          <a:bodyPr spcFirstLastPara="1" wrap="square" lIns="91425" tIns="45700" rIns="91425" bIns="45700" anchor="t" anchorCtr="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Links</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hlinkClick r:id="rId26"/>
              </a:rPr>
              <a:t>https://cvw.cac.cornell.edu/parallel/efficiency/scaling</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27" tooltip="Original URL: https://www.olcf.ornl.gov/2024/02/29/planning-for-a-smooth-landing-on-mars/. Click or tap if you trust this link."/>
              </a:rPr>
              <a:t>https://www.olcf.ornl.gov/2024/02/29/planning-for-a-smooth-landing-on-mars/</a:t>
            </a:r>
            <a:endParaRPr lang="en-US" sz="2400" dirty="0">
              <a:latin typeface="Times New Roman" panose="02020603050405020304" pitchFamily="18" charset="0"/>
              <a:cs typeface="Times New Roman" panose="02020603050405020304" pitchFamily="18" charset="0"/>
            </a:endParaRPr>
          </a:p>
          <a:p>
            <a:r>
              <a:rPr lang="en-US" sz="2400" b="1" dirty="0">
                <a:latin typeface="Calibri" panose="020F0502020204030204" pitchFamily="34" charset="0"/>
                <a:ea typeface="Calibri" panose="020F0502020204030204" pitchFamily="34" charset="0"/>
                <a:cs typeface="Calibri" panose="020F0502020204030204" pitchFamily="34" charset="0"/>
              </a:rPr>
              <a:t>Textbook Considerations</a:t>
            </a:r>
          </a:p>
          <a:p>
            <a:pPr marL="342900" indent="-342900">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Java Concurrency in Practice (Brian Goetz)</a:t>
            </a:r>
          </a:p>
          <a:p>
            <a:pPr marL="342900" indent="-342900">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The Art of Multiprocessor Programming (Herlihy &amp; Shavit)</a:t>
            </a:r>
          </a:p>
        </p:txBody>
      </p:sp>
      <p:sp>
        <p:nvSpPr>
          <p:cNvPr id="44" name="Rectangle 2">
            <a:extLst>
              <a:ext uri="{FF2B5EF4-FFF2-40B4-BE49-F238E27FC236}">
                <a16:creationId xmlns:a16="http://schemas.microsoft.com/office/drawing/2014/main" id="{F8918094-2A3D-AC1F-BA99-AE1CE6A5502E}"/>
              </a:ext>
            </a:extLst>
          </p:cNvPr>
          <p:cNvSpPr>
            <a:spLocks noChangeArrowheads="1"/>
          </p:cNvSpPr>
          <p:nvPr/>
        </p:nvSpPr>
        <p:spPr bwMode="auto">
          <a:xfrm>
            <a:off x="0" y="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rPr>
              <a:t>Java Concurrency in Practice" by Brian Goetz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1554</TotalTime>
  <Words>761</Words>
  <Application>Microsoft Office PowerPoint</Application>
  <PresentationFormat>Custom</PresentationFormat>
  <Paragraphs>74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Wood</dc:creator>
  <cp:lastModifiedBy>Perry, Sabrina</cp:lastModifiedBy>
  <cp:revision>3</cp:revision>
  <dcterms:created xsi:type="dcterms:W3CDTF">2022-08-16T17:08:39Z</dcterms:created>
  <dcterms:modified xsi:type="dcterms:W3CDTF">2025-10-30T20:52:22Z</dcterms:modified>
</cp:coreProperties>
</file>